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一般公共预算收入</c:v>
                </c:pt>
              </c:strCache>
            </c:strRef>
          </c:tx>
          <c:spPr>
            <a:solidFill>
              <a:srgbClr val="061A33"/>
            </a:solidFill>
            <a:ln w="28575">
              <a:solidFill>
                <a:srgbClr val="061A33"/>
              </a:solidFill>
            </a:ln>
          </c:spPr>
          <c:dLbls>
            <c:txPr>
              <a:bodyPr/>
              <a:lstStyle/>
              <a:p>
                <a:pPr>
                  <a:defRPr sz="750">
                    <a:solidFill>
                      <a:srgbClr val="1F2933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18.29</c:v>
                </c:pt>
                <c:pt idx="1">
                  <c:v>20.25</c:v>
                </c:pt>
                <c:pt idx="2">
                  <c:v>20.37</c:v>
                </c:pt>
                <c:pt idx="3">
                  <c:v>21.68</c:v>
                </c:pt>
                <c:pt idx="4">
                  <c:v>22.0</c:v>
                </c:pt>
                <c:pt idx="5">
                  <c:v>22.8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税收收入</c:v>
                </c:pt>
              </c:strCache>
            </c:strRef>
          </c:tx>
          <c:spPr>
            <a:solidFill>
              <a:srgbClr val="B88A44"/>
            </a:solidFill>
            <a:ln w="28575">
              <a:solidFill>
                <a:srgbClr val="B88A44"/>
              </a:solidFill>
            </a:ln>
          </c:spPr>
          <c:dLbls>
            <c:txPr>
              <a:bodyPr/>
              <a:lstStyle/>
              <a:p>
                <a:pPr>
                  <a:defRPr sz="750">
                    <a:solidFill>
                      <a:srgbClr val="1F2933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15.43</c:v>
                </c:pt>
                <c:pt idx="1">
                  <c:v>17.27</c:v>
                </c:pt>
                <c:pt idx="2">
                  <c:v>16.66</c:v>
                </c:pt>
                <c:pt idx="3">
                  <c:v>18.11</c:v>
                </c:pt>
                <c:pt idx="4">
                  <c:v>18.2</c:v>
                </c:pt>
                <c:pt idx="5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3616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4.0"/>
          <c:min val="14.0"/>
        </c:scaling>
        <c:delete val="0"/>
        <c:axPos val="l"/>
        <c:majorGridlines>
          <c:spPr>
            <a:ln w="6350">
              <a:solidFill>
                <a:srgbClr val="D9DE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3616D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8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融策承接</c:v>
                </c:pt>
              </c:strCache>
            </c:strRef>
          </c:tx>
          <c:spPr>
            <a:solidFill>
              <a:srgbClr val="061A33"/>
            </a:solidFill>
            <a:ln w="28575">
              <a:solidFill>
                <a:srgbClr val="061A33"/>
              </a:solidFill>
            </a:ln>
          </c:spPr>
          <c:dLbls>
            <c:txPr>
              <a:bodyPr/>
              <a:lstStyle/>
              <a:p>
                <a:pPr>
                  <a:defRPr sz="750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绩效评价</c:v>
                </c:pt>
                <c:pt idx="1">
                  <c:v>经责审计</c:v>
                </c:pt>
                <c:pt idx="2">
                  <c:v>工程决算</c:v>
                </c:pt>
                <c:pt idx="3">
                  <c:v>专项审计</c:v>
                </c:pt>
                <c:pt idx="4">
                  <c:v>资产清查</c:v>
                </c:pt>
                <c:pt idx="5">
                  <c:v>预算执行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32</c:v>
                </c:pt>
                <c:pt idx="2">
                  <c:v>28</c:v>
                </c:pt>
                <c:pt idx="3">
                  <c:v>25</c:v>
                </c:pt>
                <c:pt idx="4">
                  <c:v>20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行业均值</c:v>
                </c:pt>
              </c:strCache>
            </c:strRef>
          </c:tx>
          <c:spPr>
            <a:solidFill>
              <a:srgbClr val="9AA6B2"/>
            </a:solidFill>
            <a:ln w="28575">
              <a:solidFill>
                <a:srgbClr val="9AA6B2"/>
              </a:solidFill>
            </a:ln>
          </c:spPr>
          <c:dLbls>
            <c:txPr>
              <a:bodyPr/>
              <a:lstStyle/>
              <a:p>
                <a:pPr>
                  <a:defRPr sz="750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绩效评价</c:v>
                </c:pt>
                <c:pt idx="1">
                  <c:v>经责审计</c:v>
                </c:pt>
                <c:pt idx="2">
                  <c:v>工程决算</c:v>
                </c:pt>
                <c:pt idx="3">
                  <c:v>专项审计</c:v>
                </c:pt>
                <c:pt idx="4">
                  <c:v>资产清查</c:v>
                </c:pt>
                <c:pt idx="5">
                  <c:v>预算执行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35</c:v>
                </c:pt>
                <c:pt idx="2">
                  <c:v>22</c:v>
                </c:pt>
                <c:pt idx="3">
                  <c:v>30</c:v>
                </c:pt>
                <c:pt idx="4">
                  <c:v>25</c:v>
                </c:pt>
                <c:pt idx="5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3616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 w="6350">
              <a:solidFill>
                <a:srgbClr val="D9DE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3616D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8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64008"/>
          </a:xfrm>
          <a:prstGeom prst="rect">
            <a:avLst/>
          </a:prstGeom>
          <a:solidFill>
            <a:srgbClr val="B8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731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50" b="1">
                <a:solidFill>
                  <a:srgbClr val="D6B071"/>
                </a:solidFill>
                <a:latin typeface="Microsoft YaHei"/>
              </a:rPr>
              <a:t>融策·审盾研究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24688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报告与图表协同：用正文结论牵引数据证据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6517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C9D2DC"/>
                </a:solidFill>
                <a:latin typeface="Microsoft YaHei"/>
              </a:rPr>
              <a:t>融策研报模板 | 图文协同页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61A33"/>
                </a:solidFill>
                <a:latin typeface="Microsoft YaHei"/>
              </a:rPr>
              <a:t>1. 审计研报页不应只放图，而要形成“观点-证据-判断-行动”的闭环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Microsoft YaHei"/>
              </a:rPr>
              <a:t>券商研报的图表不是正文的装饰，而是论证链条中的证据单元。每一张图应回答一个明确问题：趋势是什么、异常在哪里、管理动作是什么。融策报告应将图表嵌入章节逻辑，而不是把图表集中堆在附录。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310896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建议页内结构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112"/>
            <a:ext cx="3108960" cy="19659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Microsoft YaHei"/>
              </a:rPr>
              <a:t>① 章节结论：一句话先给判断
② KPI：用3个数字压住场
③ 主图：呈现趋势/对比/结构
④ 右侧判断：解释为什么重要
⑤ 来源：交代数据可信度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43200"/>
            <a:ext cx="310896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适用报告类型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182112"/>
            <a:ext cx="3108960" cy="19659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Microsoft YaHei"/>
              </a:rPr>
              <a:t>绩效评价报告
经责审计结果报告
财政专项资金分析报告
工程决算审计专题报告
招投标串标风险分析报告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83080"/>
            <a:ext cx="3886200" cy="3977639"/>
          </a:xfrm>
          <a:prstGeom prst="roundRect">
            <a:avLst/>
          </a:prstGeom>
          <a:solidFill>
            <a:srgbClr val="FAFBFC"/>
          </a:solidFill>
          <a:ln w="1016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783080"/>
            <a:ext cx="38862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256" y="185623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核心判断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13432"/>
            <a:ext cx="3538728" cy="33192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1.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后续模板应以“页”为最小生产单元，每页绑定一个核心判断。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2.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图表数据、正文结论、资料来源要同步生成，避免图文两张皮。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3.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可编辑PPTX适合内部打磨和客户汇报，Word适合正式归档和出具。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6473952"/>
            <a:ext cx="57607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8793A0"/>
                </a:solidFill>
                <a:latin typeface="Microsoft YaHei"/>
              </a:rPr>
              <a:t>资料来源：长江证券/国金证券研报结构拆解，融策模板化复刻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8793A0"/>
                </a:solidFill>
                <a:latin typeface="Microsoft YaHei"/>
              </a:rPr>
              <a:t>制图：融策AI审计中台 |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64008"/>
          </a:xfrm>
          <a:prstGeom prst="rect">
            <a:avLst/>
          </a:prstGeom>
          <a:solidFill>
            <a:srgbClr val="B8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731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50" b="1">
                <a:solidFill>
                  <a:srgbClr val="D6B071"/>
                </a:solidFill>
                <a:latin typeface="Microsoft YaHei"/>
              </a:rPr>
              <a:t>融策·审盾研究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24688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财政收入修复斜率放缓，税收收入弹性仍是关键变量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6517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C9D2DC"/>
                </a:solidFill>
                <a:latin typeface="Microsoft YaHei"/>
              </a:rPr>
              <a:t>宏观财政专题 | 年度趋势跟踪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2025E预算收入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61A33"/>
                </a:solidFill>
                <a:latin typeface="Microsoft YaHei"/>
              </a:rPr>
              <a:t>22.8万亿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7096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2024-2025E增量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88A44"/>
                </a:solidFill>
                <a:latin typeface="Microsoft YaHei"/>
              </a:rPr>
              <a:t>+0.8万亿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税收占比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A6F78"/>
                </a:solidFill>
                <a:latin typeface="Microsoft YaHei"/>
              </a:rPr>
              <a:t>83.3%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600200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2933"/>
                </a:solidFill>
                <a:latin typeface="Microsoft YaHei"/>
              </a:rPr>
              <a:t>图1：全国一般公共预算收入与税收收入走势（万亿元）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1965960"/>
          <a:ext cx="66294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35240" y="1783080"/>
            <a:ext cx="3886200" cy="3977639"/>
          </a:xfrm>
          <a:prstGeom prst="roundRect">
            <a:avLst/>
          </a:prstGeom>
          <a:solidFill>
            <a:srgbClr val="FAFBFC"/>
          </a:solidFill>
          <a:ln w="1016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783080"/>
            <a:ext cx="38862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63256" y="185623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核心判断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313432"/>
            <a:ext cx="3538728" cy="33192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1.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财政收入修复并非线性扩张，税基质量和房地产链条回暖仍决定后续弹性。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2.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税收收入占比维持高位，说明非税收入拉动空间有限，审计应重点关注税源真实性。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3.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若预算收入增速明显高于经济增速，应回查一次性收入、非税缴库和跨期调节。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6473952"/>
            <a:ext cx="57607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8793A0"/>
                </a:solidFill>
                <a:latin typeface="Microsoft YaHei"/>
              </a:rPr>
              <a:t>资料来源：财政部，Wind，融策会计师事务所整理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8793A0"/>
                </a:solidFill>
                <a:latin typeface="Microsoft YaHei"/>
              </a:rPr>
              <a:t>制图：融策AI审计中台 | 2026-07-21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64008"/>
          </a:xfrm>
          <a:prstGeom prst="rect">
            <a:avLst/>
          </a:prstGeom>
          <a:solidFill>
            <a:srgbClr val="B8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731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50" b="1">
                <a:solidFill>
                  <a:srgbClr val="D6B071"/>
                </a:solidFill>
                <a:latin typeface="Microsoft YaHei"/>
              </a:rPr>
              <a:t>融策·审盾研究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24688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项目结构决定审计资源配置，绩效评价与工程决算是主战场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65176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C9D2DC"/>
                </a:solidFill>
                <a:latin typeface="Microsoft YaHei"/>
              </a:rPr>
              <a:t>融策业务结构分析 | 项目类型对比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项目总量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61A33"/>
                </a:solidFill>
                <a:latin typeface="Microsoft YaHei"/>
              </a:rPr>
              <a:t>168个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7096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优势业务占比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88A44"/>
                </a:solidFill>
                <a:latin typeface="Microsoft YaHei"/>
              </a:rPr>
              <a:t>43.5%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804672"/>
            <a:ext cx="3776472" cy="65836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896112"/>
            <a:ext cx="3593592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800" b="0">
                <a:solidFill>
                  <a:srgbClr val="53616D"/>
                </a:solidFill>
                <a:latin typeface="Microsoft YaHei"/>
              </a:rPr>
              <a:t>可AI复核项目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09728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A6F78"/>
                </a:solidFill>
                <a:latin typeface="Microsoft YaHei"/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600200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2933"/>
                </a:solidFill>
                <a:latin typeface="Microsoft YaHei"/>
              </a:rPr>
              <a:t>图2：2025年度审计咨询项目类型分布（个）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1965960"/>
          <a:ext cx="66294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35240" y="1783080"/>
            <a:ext cx="3886200" cy="3977639"/>
          </a:xfrm>
          <a:prstGeom prst="roundRect">
            <a:avLst/>
          </a:prstGeom>
          <a:solidFill>
            <a:srgbClr val="FAFBFC"/>
          </a:solidFill>
          <a:ln w="1016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783080"/>
            <a:ext cx="38862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63256" y="185623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核心判断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313432"/>
            <a:ext cx="3538728" cy="33192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1.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绩效评价和工程竣工决算是最适合作为审盾一期验证样板的业务线。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2.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项目结构越标准化，越适合沉淀复核清单、法规引用和图表模板。</a:t>
            </a:r>
          </a:p>
          <a:p>
            <a:pPr>
              <a:spcAft>
                <a:spcPts val="1200"/>
              </a:spcAft>
            </a:pPr>
            <a:r>
              <a:rPr sz="880" b="1">
                <a:solidFill>
                  <a:srgbClr val="B88A44"/>
                </a:solidFill>
                <a:latin typeface="Microsoft YaHei"/>
              </a:rPr>
              <a:t>3.  </a:t>
            </a:r>
            <a:r>
              <a:rPr sz="880" b="0">
                <a:solidFill>
                  <a:srgbClr val="1F2933"/>
                </a:solidFill>
                <a:latin typeface="Microsoft YaHei"/>
              </a:rPr>
              <a:t>后续应按业务线建立“数据口径-指标体系-报告模板”三件套。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6473952"/>
            <a:ext cx="57607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8793A0"/>
                </a:solidFill>
                <a:latin typeface="Microsoft YaHei"/>
              </a:rPr>
              <a:t>资料来源：融策项目台账，行业访谈，融策AI审计中台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8793A0"/>
                </a:solidFill>
                <a:latin typeface="Microsoft YaHei"/>
              </a:rPr>
              <a:t>制图：融策AI审计中台 | 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