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一般公共预算收入</c:v>
                </c:pt>
              </c:strCache>
            </c:strRef>
          </c:tx>
          <c:spPr>
            <a:ln w="28575">
              <a:solidFill>
                <a:srgbClr val="061A33"/>
              </a:solidFill>
            </a:ln>
          </c:spPr>
          <c:cat>
            <c:strRef>
              <c:f>Sheet1!$A$2:$A$7</c:f>
              <c:strCache>
                <c:ptCount val="6"/>
                <c:pt idx="0">
                  <c:v>2020</c:v>
                </c:pt>
                <c:pt idx="1">
                  <c:v>2021</c:v>
                </c:pt>
                <c:pt idx="2">
                  <c:v>2022</c:v>
                </c:pt>
                <c:pt idx="3">
                  <c:v>2023</c:v>
                </c:pt>
                <c:pt idx="4">
                  <c:v>2024</c:v>
                </c:pt>
                <c:pt idx="5">
                  <c:v>2025E</c:v>
                </c:pt>
              </c:strCache>
            </c:strRef>
          </c:cat>
          <c:val>
            <c:numRef>
              <c:f>Sheet1!$B$2:$B$7</c:f>
              <c:numCache>
                <c:formatCode>General</c:formatCode>
                <c:ptCount val="6"/>
                <c:pt idx="0">
                  <c:v>18.29</c:v>
                </c:pt>
                <c:pt idx="1">
                  <c:v>20.25</c:v>
                </c:pt>
                <c:pt idx="2">
                  <c:v>20.37</c:v>
                </c:pt>
                <c:pt idx="3">
                  <c:v>21.68</c:v>
                </c:pt>
                <c:pt idx="4">
                  <c:v>22.0</c:v>
                </c:pt>
                <c:pt idx="5">
                  <c:v>22.8</c:v>
                </c:pt>
              </c:numCache>
            </c:numRef>
          </c:val>
          <c:smooth val="0"/>
        </c:ser>
        <c:ser>
          <c:idx val="1"/>
          <c:order val="1"/>
          <c:tx>
            <c:strRef>
              <c:f>Sheet1!$C$1</c:f>
              <c:strCache>
                <c:ptCount val="1"/>
                <c:pt idx="0">
                  <c:v>税收收入</c:v>
                </c:pt>
              </c:strCache>
            </c:strRef>
          </c:tx>
          <c:spPr>
            <a:ln w="28575">
              <a:solidFill>
                <a:srgbClr val="B88A44"/>
              </a:solidFill>
            </a:ln>
          </c:spPr>
          <c:cat>
            <c:strRef>
              <c:f>Sheet1!$A$2:$A$7</c:f>
              <c:strCache>
                <c:ptCount val="6"/>
                <c:pt idx="0">
                  <c:v>2020</c:v>
                </c:pt>
                <c:pt idx="1">
                  <c:v>2021</c:v>
                </c:pt>
                <c:pt idx="2">
                  <c:v>2022</c:v>
                </c:pt>
                <c:pt idx="3">
                  <c:v>2023</c:v>
                </c:pt>
                <c:pt idx="4">
                  <c:v>2024</c:v>
                </c:pt>
                <c:pt idx="5">
                  <c:v>2025E</c:v>
                </c:pt>
              </c:strCache>
            </c:strRef>
          </c:cat>
          <c:val>
            <c:numRef>
              <c:f>Sheet1!$C$2:$C$7</c:f>
              <c:numCache>
                <c:formatCode>General</c:formatCode>
                <c:ptCount val="6"/>
                <c:pt idx="0">
                  <c:v>15.43</c:v>
                </c:pt>
                <c:pt idx="1">
                  <c:v>17.27</c:v>
                </c:pt>
                <c:pt idx="2">
                  <c:v>16.66</c:v>
                </c:pt>
                <c:pt idx="3">
                  <c:v>18.11</c:v>
                </c:pt>
                <c:pt idx="4">
                  <c:v>18.2</c:v>
                </c:pt>
                <c:pt idx="5">
                  <c:v>19.0</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crossAx val="2140495176"/>
        <c:crosses val="autoZero"/>
        <c:auto val="1"/>
        <c:lblAlgn val="ctr"/>
        <c:lblOffset val="100"/>
        <c:noMultiLvlLbl val="0"/>
      </c:catAx>
      <c:valAx>
        <c:axId val="2140495176"/>
        <c:scaling/>
        <c:delete val="0"/>
        <c:axPos val="l"/>
        <c:majorGridlines>
          <c:spPr>
            <a:ln>
              <a:solidFill>
                <a:srgbClr val="D9DEE5"/>
              </a:solidFill>
            </a:ln>
          </c:spPr>
        </c:majorGridlines>
        <c:majorTickMark val="out"/>
        <c:minorTickMark val="none"/>
        <c:tickLblPos val="nextTo"/>
        <c:crossAx val="2118791784"/>
        <c:crosses val="autoZero"/>
      </c:valAx>
    </c:plotArea>
    <c:legend>
      <c:legendPos val="t"/>
      <c:layout/>
      <c:overlay val="0"/>
    </c:legend>
    <c:plotVisOnly val="1"/>
    <c:dispBlanksAs val="gap"/>
    <c:showDLblsOverMax val="0"/>
  </c:chart>
  <c:txPr>
    <a:bodyPr/>
    <a:lstStyle/>
    <a:p>
      <a:pPr>
        <a:defRPr sz="800">
          <a:latin typeface="Microsoft YaHei"/>
        </a:defRPr>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828800" cy="6858000"/>
          </a:xfrm>
          <a:prstGeom prst="rect">
            <a:avLst/>
          </a:prstGeom>
          <a:solidFill>
            <a:srgbClr val="061A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828800" y="0"/>
            <a:ext cx="73152" cy="6858000"/>
          </a:xfrm>
          <a:prstGeom prst="rect">
            <a:avLst/>
          </a:prstGeom>
          <a:solidFill>
            <a:srgbClr val="B88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20040" y="411480"/>
            <a:ext cx="1188720" cy="228600"/>
          </a:xfrm>
          <a:prstGeom prst="rect">
            <a:avLst/>
          </a:prstGeom>
          <a:noFill/>
          <a:ln>
            <a:noFill/>
          </a:ln>
        </p:spPr>
        <p:txBody>
          <a:bodyPr wrap="square" lIns="73152" rIns="73152" tIns="36576" bIns="36576" anchor="t">
            <a:spAutoFit/>
          </a:bodyPr>
          <a:lstStyle/>
          <a:p>
            <a:pPr algn="ctr"/>
            <a:r>
              <a:rPr sz="1800" b="1">
                <a:solidFill>
                  <a:srgbClr val="D6B071"/>
                </a:solidFill>
                <a:latin typeface="Microsoft YaHei"/>
              </a:rPr>
              <a:t>融策</a:t>
            </a:r>
          </a:p>
        </p:txBody>
      </p:sp>
      <p:sp>
        <p:nvSpPr>
          <p:cNvPr id="6" name="TextBox 5"/>
          <p:cNvSpPr txBox="1"/>
          <p:nvPr/>
        </p:nvSpPr>
        <p:spPr>
          <a:xfrm>
            <a:off x="301752" y="713232"/>
            <a:ext cx="1234440" cy="164592"/>
          </a:xfrm>
          <a:prstGeom prst="rect">
            <a:avLst/>
          </a:prstGeom>
          <a:noFill/>
          <a:ln>
            <a:noFill/>
          </a:ln>
        </p:spPr>
        <p:txBody>
          <a:bodyPr wrap="square" lIns="73152" rIns="73152" tIns="36576" bIns="36576" anchor="t">
            <a:spAutoFit/>
          </a:bodyPr>
          <a:lstStyle/>
          <a:p>
            <a:pPr algn="ctr"/>
            <a:r>
              <a:rPr sz="900" b="0">
                <a:solidFill>
                  <a:srgbClr val="C8D2DC"/>
                </a:solidFill>
                <a:latin typeface="Microsoft YaHei"/>
              </a:rPr>
              <a:t>审盾研究</a:t>
            </a:r>
          </a:p>
        </p:txBody>
      </p:sp>
      <p:sp>
        <p:nvSpPr>
          <p:cNvPr id="7" name="TextBox 6"/>
          <p:cNvSpPr txBox="1"/>
          <p:nvPr/>
        </p:nvSpPr>
        <p:spPr>
          <a:xfrm>
            <a:off x="2423160" y="868680"/>
            <a:ext cx="7680960" cy="274320"/>
          </a:xfrm>
          <a:prstGeom prst="rect">
            <a:avLst/>
          </a:prstGeom>
          <a:noFill/>
          <a:ln>
            <a:noFill/>
          </a:ln>
        </p:spPr>
        <p:txBody>
          <a:bodyPr wrap="square" lIns="73152" rIns="73152" tIns="36576" bIns="36576" anchor="t">
            <a:spAutoFit/>
          </a:bodyPr>
          <a:lstStyle/>
          <a:p>
            <a:pPr algn="l"/>
            <a:r>
              <a:rPr sz="1200" b="1">
                <a:solidFill>
                  <a:srgbClr val="B88A44"/>
                </a:solidFill>
                <a:latin typeface="Microsoft YaHei"/>
              </a:rPr>
              <a:t>行业深度报告 | AI审计中台系列</a:t>
            </a:r>
          </a:p>
        </p:txBody>
      </p:sp>
      <p:sp>
        <p:nvSpPr>
          <p:cNvPr id="8" name="TextBox 7"/>
          <p:cNvSpPr txBox="1"/>
          <p:nvPr/>
        </p:nvSpPr>
        <p:spPr>
          <a:xfrm>
            <a:off x="2395728" y="1417320"/>
            <a:ext cx="8138160" cy="1051560"/>
          </a:xfrm>
          <a:prstGeom prst="rect">
            <a:avLst/>
          </a:prstGeom>
          <a:noFill/>
          <a:ln>
            <a:noFill/>
          </a:ln>
        </p:spPr>
        <p:txBody>
          <a:bodyPr wrap="square" lIns="73152" rIns="73152" tIns="36576" bIns="36576" anchor="t">
            <a:spAutoFit/>
          </a:bodyPr>
          <a:lstStyle/>
          <a:p>
            <a:pPr algn="l"/>
            <a:r>
              <a:rPr sz="3100" b="1">
                <a:solidFill>
                  <a:srgbClr val="061A33"/>
                </a:solidFill>
                <a:latin typeface="Microsoft YaHei"/>
              </a:rPr>
              <a:t>融策AI审计中台：
重塑政府审计的数据穿透力</a:t>
            </a:r>
          </a:p>
        </p:txBody>
      </p:sp>
      <p:sp>
        <p:nvSpPr>
          <p:cNvPr id="9" name="TextBox 8"/>
          <p:cNvSpPr txBox="1"/>
          <p:nvPr/>
        </p:nvSpPr>
        <p:spPr>
          <a:xfrm>
            <a:off x="2450592" y="2606040"/>
            <a:ext cx="7680960" cy="347472"/>
          </a:xfrm>
          <a:prstGeom prst="rect">
            <a:avLst/>
          </a:prstGeom>
          <a:noFill/>
          <a:ln>
            <a:noFill/>
          </a:ln>
        </p:spPr>
        <p:txBody>
          <a:bodyPr wrap="square" lIns="73152" rIns="73152" tIns="36576" bIns="36576" anchor="t">
            <a:spAutoFit/>
          </a:bodyPr>
          <a:lstStyle/>
          <a:p>
            <a:pPr algn="l"/>
            <a:r>
              <a:rPr sz="1700" b="0">
                <a:solidFill>
                  <a:srgbClr val="1A6F78"/>
                </a:solidFill>
                <a:latin typeface="Microsoft YaHei"/>
              </a:rPr>
              <a:t>从信息化核查到智能交叉验证的0到1跃迁</a:t>
            </a:r>
          </a:p>
        </p:txBody>
      </p:sp>
      <p:sp>
        <p:nvSpPr>
          <p:cNvPr id="10" name="Rectangle 9"/>
          <p:cNvSpPr/>
          <p:nvPr/>
        </p:nvSpPr>
        <p:spPr>
          <a:xfrm>
            <a:off x="2423160" y="3246120"/>
            <a:ext cx="960120" cy="45720"/>
          </a:xfrm>
          <a:prstGeom prst="rect">
            <a:avLst/>
          </a:prstGeom>
          <a:solidFill>
            <a:srgbClr val="B88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423160" y="3566160"/>
            <a:ext cx="6766560" cy="1417320"/>
          </a:xfrm>
          <a:prstGeom prst="rect">
            <a:avLst/>
          </a:prstGeom>
          <a:noFill/>
          <a:ln>
            <a:noFill/>
          </a:ln>
        </p:spPr>
        <p:txBody>
          <a:bodyPr wrap="square" lIns="73152" rIns="73152" tIns="36576" bIns="36576" anchor="t">
            <a:spAutoFit/>
          </a:bodyPr>
          <a:lstStyle/>
          <a:p>
            <a:pPr algn="l"/>
            <a:r>
              <a:rPr sz="1200" b="0">
                <a:solidFill>
                  <a:srgbClr val="1F2933"/>
                </a:solidFill>
                <a:latin typeface="Microsoft YaHei"/>
              </a:rPr>
              <a:t>本报告复刻券商深度研报的结构逻辑，以“观点先行、图表作证、判断落地”为核心，形成适用于绩效评价、经责审计、专项资金、工程决算等业务线的标准化研报母版。</a:t>
            </a:r>
          </a:p>
        </p:txBody>
      </p:sp>
      <p:sp>
        <p:nvSpPr>
          <p:cNvPr id="12" name="TextBox 11"/>
          <p:cNvSpPr txBox="1"/>
          <p:nvPr/>
        </p:nvSpPr>
        <p:spPr>
          <a:xfrm>
            <a:off x="2423160" y="5806440"/>
            <a:ext cx="3931920" cy="201168"/>
          </a:xfrm>
          <a:prstGeom prst="rect">
            <a:avLst/>
          </a:prstGeom>
          <a:noFill/>
          <a:ln>
            <a:noFill/>
          </a:ln>
        </p:spPr>
        <p:txBody>
          <a:bodyPr wrap="square" lIns="73152" rIns="73152" tIns="36576" bIns="36576" anchor="t">
            <a:spAutoFit/>
          </a:bodyPr>
          <a:lstStyle/>
          <a:p>
            <a:pPr algn="l"/>
            <a:r>
              <a:rPr sz="900" b="0">
                <a:solidFill>
                  <a:srgbClr val="53616D"/>
                </a:solidFill>
                <a:latin typeface="Microsoft YaHei"/>
              </a:rPr>
              <a:t>分析师：融策右护卫 | 报告日期：2026年7月21日</a:t>
            </a:r>
          </a:p>
        </p:txBody>
      </p:sp>
      <p:sp>
        <p:nvSpPr>
          <p:cNvPr id="13" name="TextBox 12"/>
          <p:cNvSpPr txBox="1"/>
          <p:nvPr/>
        </p:nvSpPr>
        <p:spPr>
          <a:xfrm>
            <a:off x="8778240" y="5806440"/>
            <a:ext cx="2468880" cy="201168"/>
          </a:xfrm>
          <a:prstGeom prst="rect">
            <a:avLst/>
          </a:prstGeom>
          <a:noFill/>
          <a:ln>
            <a:noFill/>
          </a:ln>
        </p:spPr>
        <p:txBody>
          <a:bodyPr wrap="square" lIns="73152" rIns="73152" tIns="36576" bIns="36576" anchor="t">
            <a:spAutoFit/>
          </a:bodyPr>
          <a:lstStyle/>
          <a:p>
            <a:pPr algn="r"/>
            <a:r>
              <a:rPr sz="900" b="0">
                <a:solidFill>
                  <a:srgbClr val="53616D"/>
                </a:solidFill>
                <a:latin typeface="Microsoft YaHei"/>
              </a:rPr>
              <a:t>内部研报母版 v1.0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475488"/>
          </a:xfrm>
          <a:prstGeom prst="rect">
            <a:avLst/>
          </a:prstGeom>
          <a:solidFill>
            <a:srgbClr val="061A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75488"/>
            <a:ext cx="12191695" cy="54864"/>
          </a:xfrm>
          <a:prstGeom prst="rect">
            <a:avLst/>
          </a:prstGeom>
          <a:solidFill>
            <a:srgbClr val="B88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47472" y="73152"/>
            <a:ext cx="2377440" cy="146304"/>
          </a:xfrm>
          <a:prstGeom prst="rect">
            <a:avLst/>
          </a:prstGeom>
          <a:noFill/>
          <a:ln>
            <a:noFill/>
          </a:ln>
        </p:spPr>
        <p:txBody>
          <a:bodyPr wrap="square" lIns="73152" rIns="73152" tIns="36576" bIns="36576" anchor="t">
            <a:spAutoFit/>
          </a:bodyPr>
          <a:lstStyle/>
          <a:p>
            <a:pPr algn="l"/>
            <a:r>
              <a:rPr sz="800" b="1">
                <a:solidFill>
                  <a:srgbClr val="D6B071"/>
                </a:solidFill>
                <a:latin typeface="Microsoft YaHei"/>
              </a:rPr>
              <a:t>核心摘要</a:t>
            </a:r>
          </a:p>
        </p:txBody>
      </p:sp>
      <p:sp>
        <p:nvSpPr>
          <p:cNvPr id="5" name="TextBox 4"/>
          <p:cNvSpPr txBox="1"/>
          <p:nvPr/>
        </p:nvSpPr>
        <p:spPr>
          <a:xfrm>
            <a:off x="347472" y="228600"/>
            <a:ext cx="7498079" cy="201168"/>
          </a:xfrm>
          <a:prstGeom prst="rect">
            <a:avLst/>
          </a:prstGeom>
          <a:noFill/>
          <a:ln>
            <a:noFill/>
          </a:ln>
        </p:spPr>
        <p:txBody>
          <a:bodyPr wrap="square" lIns="73152" rIns="73152" tIns="36576" bIns="36576" anchor="t">
            <a:spAutoFit/>
          </a:bodyPr>
          <a:lstStyle/>
          <a:p>
            <a:pPr algn="l"/>
            <a:r>
              <a:rPr sz="1400" b="1">
                <a:solidFill>
                  <a:srgbClr val="FFFFFF"/>
                </a:solidFill>
                <a:latin typeface="Microsoft YaHei"/>
              </a:rPr>
              <a:t>三句话讲清本报告的结论</a:t>
            </a:r>
          </a:p>
        </p:txBody>
      </p:sp>
      <p:sp>
        <p:nvSpPr>
          <p:cNvPr id="6" name="TextBox 5"/>
          <p:cNvSpPr txBox="1"/>
          <p:nvPr/>
        </p:nvSpPr>
        <p:spPr>
          <a:xfrm>
            <a:off x="8686800" y="210312"/>
            <a:ext cx="3108960" cy="201168"/>
          </a:xfrm>
          <a:prstGeom prst="rect">
            <a:avLst/>
          </a:prstGeom>
          <a:noFill/>
          <a:ln>
            <a:noFill/>
          </a:ln>
        </p:spPr>
        <p:txBody>
          <a:bodyPr wrap="square" lIns="73152" rIns="73152" tIns="36576" bIns="36576" anchor="t">
            <a:spAutoFit/>
          </a:bodyPr>
          <a:lstStyle/>
          <a:p>
            <a:pPr algn="r"/>
            <a:r>
              <a:rPr sz="850" b="0">
                <a:solidFill>
                  <a:srgbClr val="C9D2DC"/>
                </a:solidFill>
                <a:latin typeface="Microsoft YaHei"/>
              </a:rPr>
              <a:t>融策·审盾研究</a:t>
            </a:r>
          </a:p>
        </p:txBody>
      </p:sp>
      <p:sp>
        <p:nvSpPr>
          <p:cNvPr id="7" name="Rounded Rectangle 6"/>
          <p:cNvSpPr/>
          <p:nvPr/>
        </p:nvSpPr>
        <p:spPr>
          <a:xfrm>
            <a:off x="658368" y="960120"/>
            <a:ext cx="10881360" cy="1115568"/>
          </a:xfrm>
          <a:prstGeom prst="roundRect">
            <a:avLst/>
          </a:prstGeom>
          <a:solidFill>
            <a:srgbClr val="F4F6F8"/>
          </a:solidFill>
          <a:ln w="9525">
            <a:solidFill>
              <a:srgbClr val="D9DE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77824" y="1143000"/>
            <a:ext cx="530352" cy="320040"/>
          </a:xfrm>
          <a:prstGeom prst="rect">
            <a:avLst/>
          </a:prstGeom>
          <a:noFill/>
          <a:ln>
            <a:noFill/>
          </a:ln>
        </p:spPr>
        <p:txBody>
          <a:bodyPr wrap="square" lIns="73152" rIns="73152" tIns="36576" bIns="36576" anchor="t">
            <a:spAutoFit/>
          </a:bodyPr>
          <a:lstStyle/>
          <a:p>
            <a:pPr algn="l"/>
            <a:r>
              <a:rPr sz="2000" b="1">
                <a:solidFill>
                  <a:srgbClr val="B88A44"/>
                </a:solidFill>
                <a:latin typeface="Microsoft YaHei"/>
              </a:rPr>
              <a:t>01</a:t>
            </a:r>
          </a:p>
        </p:txBody>
      </p:sp>
      <p:sp>
        <p:nvSpPr>
          <p:cNvPr id="9" name="TextBox 8"/>
          <p:cNvSpPr txBox="1"/>
          <p:nvPr/>
        </p:nvSpPr>
        <p:spPr>
          <a:xfrm>
            <a:off x="1600200" y="1124712"/>
            <a:ext cx="5303520" cy="256032"/>
          </a:xfrm>
          <a:prstGeom prst="rect">
            <a:avLst/>
          </a:prstGeom>
          <a:noFill/>
          <a:ln>
            <a:noFill/>
          </a:ln>
        </p:spPr>
        <p:txBody>
          <a:bodyPr wrap="square" lIns="73152" rIns="73152" tIns="36576" bIns="36576" anchor="t">
            <a:spAutoFit/>
          </a:bodyPr>
          <a:lstStyle/>
          <a:p>
            <a:pPr algn="l"/>
            <a:r>
              <a:rPr sz="1300" b="1">
                <a:solidFill>
                  <a:srgbClr val="061A33"/>
                </a:solidFill>
                <a:latin typeface="Microsoft YaHei"/>
              </a:rPr>
              <a:t>不是做“漂亮图表”，而是做证据链页面</a:t>
            </a:r>
          </a:p>
        </p:txBody>
      </p:sp>
      <p:sp>
        <p:nvSpPr>
          <p:cNvPr id="10" name="TextBox 9"/>
          <p:cNvSpPr txBox="1"/>
          <p:nvPr/>
        </p:nvSpPr>
        <p:spPr>
          <a:xfrm>
            <a:off x="1600200" y="1490472"/>
            <a:ext cx="8961120" cy="292608"/>
          </a:xfrm>
          <a:prstGeom prst="rect">
            <a:avLst/>
          </a:prstGeom>
          <a:noFill/>
          <a:ln>
            <a:noFill/>
          </a:ln>
        </p:spPr>
        <p:txBody>
          <a:bodyPr wrap="square" lIns="73152" rIns="73152" tIns="36576" bIns="36576" anchor="t">
            <a:spAutoFit/>
          </a:bodyPr>
          <a:lstStyle/>
          <a:p>
            <a:pPr algn="l"/>
            <a:r>
              <a:rPr sz="1000" b="0">
                <a:solidFill>
                  <a:srgbClr val="1F2933"/>
                </a:solidFill>
                <a:latin typeface="Microsoft YaHei"/>
              </a:rPr>
              <a:t>每页必须有一个明确判断，并用KPI、图表、右侧解释和来源共同支撑。</a:t>
            </a:r>
          </a:p>
        </p:txBody>
      </p:sp>
      <p:sp>
        <p:nvSpPr>
          <p:cNvPr id="11" name="Rounded Rectangle 10"/>
          <p:cNvSpPr/>
          <p:nvPr/>
        </p:nvSpPr>
        <p:spPr>
          <a:xfrm>
            <a:off x="658368" y="2377440"/>
            <a:ext cx="10881360" cy="1115568"/>
          </a:xfrm>
          <a:prstGeom prst="roundRect">
            <a:avLst/>
          </a:prstGeom>
          <a:solidFill>
            <a:srgbClr val="F4F6F8"/>
          </a:solidFill>
          <a:ln w="9525">
            <a:solidFill>
              <a:srgbClr val="D9DE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77824" y="2560320"/>
            <a:ext cx="530352" cy="320040"/>
          </a:xfrm>
          <a:prstGeom prst="rect">
            <a:avLst/>
          </a:prstGeom>
          <a:noFill/>
          <a:ln>
            <a:noFill/>
          </a:ln>
        </p:spPr>
        <p:txBody>
          <a:bodyPr wrap="square" lIns="73152" rIns="73152" tIns="36576" bIns="36576" anchor="t">
            <a:spAutoFit/>
          </a:bodyPr>
          <a:lstStyle/>
          <a:p>
            <a:pPr algn="l"/>
            <a:r>
              <a:rPr sz="2000" b="1">
                <a:solidFill>
                  <a:srgbClr val="B88A44"/>
                </a:solidFill>
                <a:latin typeface="Microsoft YaHei"/>
              </a:rPr>
              <a:t>02</a:t>
            </a:r>
          </a:p>
        </p:txBody>
      </p:sp>
      <p:sp>
        <p:nvSpPr>
          <p:cNvPr id="13" name="TextBox 12"/>
          <p:cNvSpPr txBox="1"/>
          <p:nvPr/>
        </p:nvSpPr>
        <p:spPr>
          <a:xfrm>
            <a:off x="1600200" y="2542032"/>
            <a:ext cx="5303520" cy="256032"/>
          </a:xfrm>
          <a:prstGeom prst="rect">
            <a:avLst/>
          </a:prstGeom>
          <a:noFill/>
          <a:ln>
            <a:noFill/>
          </a:ln>
        </p:spPr>
        <p:txBody>
          <a:bodyPr wrap="square" lIns="73152" rIns="73152" tIns="36576" bIns="36576" anchor="t">
            <a:spAutoFit/>
          </a:bodyPr>
          <a:lstStyle/>
          <a:p>
            <a:pPr algn="l"/>
            <a:r>
              <a:rPr sz="1300" b="1">
                <a:solidFill>
                  <a:srgbClr val="061A33"/>
                </a:solidFill>
                <a:latin typeface="Microsoft YaHei"/>
              </a:rPr>
              <a:t>研报模板应服务融策业务线，而非照搬券商金融话术</a:t>
            </a:r>
          </a:p>
        </p:txBody>
      </p:sp>
      <p:sp>
        <p:nvSpPr>
          <p:cNvPr id="14" name="TextBox 13"/>
          <p:cNvSpPr txBox="1"/>
          <p:nvPr/>
        </p:nvSpPr>
        <p:spPr>
          <a:xfrm>
            <a:off x="1600200" y="2907792"/>
            <a:ext cx="8961120" cy="292608"/>
          </a:xfrm>
          <a:prstGeom prst="rect">
            <a:avLst/>
          </a:prstGeom>
          <a:noFill/>
          <a:ln>
            <a:noFill/>
          </a:ln>
        </p:spPr>
        <p:txBody>
          <a:bodyPr wrap="square" lIns="73152" rIns="73152" tIns="36576" bIns="36576" anchor="t">
            <a:spAutoFit/>
          </a:bodyPr>
          <a:lstStyle/>
          <a:p>
            <a:pPr algn="l"/>
            <a:r>
              <a:rPr sz="1000" b="0">
                <a:solidFill>
                  <a:srgbClr val="1F2933"/>
                </a:solidFill>
                <a:latin typeface="Microsoft YaHei"/>
              </a:rPr>
              <a:t>绩效评价、经责审计、工程决算、专项资金各自需要不同的数据口径与图表母版。</a:t>
            </a:r>
          </a:p>
        </p:txBody>
      </p:sp>
      <p:sp>
        <p:nvSpPr>
          <p:cNvPr id="15" name="Rounded Rectangle 14"/>
          <p:cNvSpPr/>
          <p:nvPr/>
        </p:nvSpPr>
        <p:spPr>
          <a:xfrm>
            <a:off x="658368" y="3794760"/>
            <a:ext cx="10881360" cy="1115568"/>
          </a:xfrm>
          <a:prstGeom prst="roundRect">
            <a:avLst/>
          </a:prstGeom>
          <a:solidFill>
            <a:srgbClr val="F4F6F8"/>
          </a:solidFill>
          <a:ln w="9525">
            <a:solidFill>
              <a:srgbClr val="D9DE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77824" y="3977640"/>
            <a:ext cx="530352" cy="320040"/>
          </a:xfrm>
          <a:prstGeom prst="rect">
            <a:avLst/>
          </a:prstGeom>
          <a:noFill/>
          <a:ln>
            <a:noFill/>
          </a:ln>
        </p:spPr>
        <p:txBody>
          <a:bodyPr wrap="square" lIns="73152" rIns="73152" tIns="36576" bIns="36576" anchor="t">
            <a:spAutoFit/>
          </a:bodyPr>
          <a:lstStyle/>
          <a:p>
            <a:pPr algn="l"/>
            <a:r>
              <a:rPr sz="2000" b="1">
                <a:solidFill>
                  <a:srgbClr val="B88A44"/>
                </a:solidFill>
                <a:latin typeface="Microsoft YaHei"/>
              </a:rPr>
              <a:t>03</a:t>
            </a:r>
          </a:p>
        </p:txBody>
      </p:sp>
      <p:sp>
        <p:nvSpPr>
          <p:cNvPr id="17" name="TextBox 16"/>
          <p:cNvSpPr txBox="1"/>
          <p:nvPr/>
        </p:nvSpPr>
        <p:spPr>
          <a:xfrm>
            <a:off x="1600200" y="3959352"/>
            <a:ext cx="5303520" cy="256032"/>
          </a:xfrm>
          <a:prstGeom prst="rect">
            <a:avLst/>
          </a:prstGeom>
          <a:noFill/>
          <a:ln>
            <a:noFill/>
          </a:ln>
        </p:spPr>
        <p:txBody>
          <a:bodyPr wrap="square" lIns="73152" rIns="73152" tIns="36576" bIns="36576" anchor="t">
            <a:spAutoFit/>
          </a:bodyPr>
          <a:lstStyle/>
          <a:p>
            <a:pPr algn="l"/>
            <a:r>
              <a:rPr sz="1300" b="1">
                <a:solidFill>
                  <a:srgbClr val="061A33"/>
                </a:solidFill>
                <a:latin typeface="Microsoft YaHei"/>
              </a:rPr>
              <a:t>可编辑PPTX用于汇报打磨，Word用于正式归档出具</a:t>
            </a:r>
          </a:p>
        </p:txBody>
      </p:sp>
      <p:sp>
        <p:nvSpPr>
          <p:cNvPr id="18" name="TextBox 17"/>
          <p:cNvSpPr txBox="1"/>
          <p:nvPr/>
        </p:nvSpPr>
        <p:spPr>
          <a:xfrm>
            <a:off x="1600200" y="4325112"/>
            <a:ext cx="8961120" cy="292608"/>
          </a:xfrm>
          <a:prstGeom prst="rect">
            <a:avLst/>
          </a:prstGeom>
          <a:noFill/>
          <a:ln>
            <a:noFill/>
          </a:ln>
        </p:spPr>
        <p:txBody>
          <a:bodyPr wrap="square" lIns="73152" rIns="73152" tIns="36576" bIns="36576" anchor="t">
            <a:spAutoFit/>
          </a:bodyPr>
          <a:lstStyle/>
          <a:p>
            <a:pPr algn="l"/>
            <a:r>
              <a:rPr sz="1000" b="0">
                <a:solidFill>
                  <a:srgbClr val="1F2933"/>
                </a:solidFill>
                <a:latin typeface="Microsoft YaHei"/>
              </a:rPr>
              <a:t>PPTX承载图文协同和客户沟通，Word承载正式报告文本、附件和签批流程。</a:t>
            </a:r>
          </a:p>
        </p:txBody>
      </p:sp>
      <p:sp>
        <p:nvSpPr>
          <p:cNvPr id="19" name="TextBox 18"/>
          <p:cNvSpPr txBox="1"/>
          <p:nvPr/>
        </p:nvSpPr>
        <p:spPr>
          <a:xfrm>
            <a:off x="347472" y="6473952"/>
            <a:ext cx="5303520" cy="146304"/>
          </a:xfrm>
          <a:prstGeom prst="rect">
            <a:avLst/>
          </a:prstGeom>
          <a:noFill/>
          <a:ln>
            <a:noFill/>
          </a:ln>
        </p:spPr>
        <p:txBody>
          <a:bodyPr wrap="square" lIns="73152" rIns="73152" tIns="36576" bIns="36576" anchor="t">
            <a:spAutoFit/>
          </a:bodyPr>
          <a:lstStyle/>
          <a:p>
            <a:pPr algn="l"/>
            <a:r>
              <a:rPr sz="720" b="0">
                <a:solidFill>
                  <a:srgbClr val="8793A0"/>
                </a:solidFill>
                <a:latin typeface="Microsoft YaHei"/>
              </a:rPr>
              <a:t>资料来源：融策AI审计中台</a:t>
            </a:r>
          </a:p>
        </p:txBody>
      </p:sp>
      <p:sp>
        <p:nvSpPr>
          <p:cNvPr id="20" name="TextBox 19"/>
          <p:cNvSpPr txBox="1"/>
          <p:nvPr/>
        </p:nvSpPr>
        <p:spPr>
          <a:xfrm>
            <a:off x="9875520" y="6473952"/>
            <a:ext cx="1920240" cy="146304"/>
          </a:xfrm>
          <a:prstGeom prst="rect">
            <a:avLst/>
          </a:prstGeom>
          <a:noFill/>
          <a:ln>
            <a:noFill/>
          </a:ln>
        </p:spPr>
        <p:txBody>
          <a:bodyPr wrap="square" lIns="73152" rIns="73152" tIns="36576" bIns="36576" anchor="t">
            <a:spAutoFit/>
          </a:bodyPr>
          <a:lstStyle/>
          <a:p>
            <a:pPr algn="r"/>
            <a:r>
              <a:rPr sz="720" b="0">
                <a:solidFill>
                  <a:srgbClr val="8793A0"/>
                </a:solidFill>
                <a:latin typeface="Microsoft YaHei"/>
              </a:rPr>
              <a:t>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475488"/>
          </a:xfrm>
          <a:prstGeom prst="rect">
            <a:avLst/>
          </a:prstGeom>
          <a:solidFill>
            <a:srgbClr val="061A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75488"/>
            <a:ext cx="12191695" cy="54864"/>
          </a:xfrm>
          <a:prstGeom prst="rect">
            <a:avLst/>
          </a:prstGeom>
          <a:solidFill>
            <a:srgbClr val="B88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47472" y="73152"/>
            <a:ext cx="2377440" cy="146304"/>
          </a:xfrm>
          <a:prstGeom prst="rect">
            <a:avLst/>
          </a:prstGeom>
          <a:noFill/>
          <a:ln>
            <a:noFill/>
          </a:ln>
        </p:spPr>
        <p:txBody>
          <a:bodyPr wrap="square" lIns="73152" rIns="73152" tIns="36576" bIns="36576" anchor="t">
            <a:spAutoFit/>
          </a:bodyPr>
          <a:lstStyle/>
          <a:p>
            <a:pPr algn="l"/>
            <a:r>
              <a:rPr sz="800" b="1">
                <a:solidFill>
                  <a:srgbClr val="D6B071"/>
                </a:solidFill>
                <a:latin typeface="Microsoft YaHei"/>
              </a:rPr>
              <a:t>目录</a:t>
            </a:r>
          </a:p>
        </p:txBody>
      </p:sp>
      <p:sp>
        <p:nvSpPr>
          <p:cNvPr id="5" name="TextBox 4"/>
          <p:cNvSpPr txBox="1"/>
          <p:nvPr/>
        </p:nvSpPr>
        <p:spPr>
          <a:xfrm>
            <a:off x="347472" y="228600"/>
            <a:ext cx="7498079" cy="201168"/>
          </a:xfrm>
          <a:prstGeom prst="rect">
            <a:avLst/>
          </a:prstGeom>
          <a:noFill/>
          <a:ln>
            <a:noFill/>
          </a:ln>
        </p:spPr>
        <p:txBody>
          <a:bodyPr wrap="square" lIns="73152" rIns="73152" tIns="36576" bIns="36576" anchor="t">
            <a:spAutoFit/>
          </a:bodyPr>
          <a:lstStyle/>
          <a:p>
            <a:pPr algn="l"/>
            <a:r>
              <a:rPr sz="1400" b="1">
                <a:solidFill>
                  <a:srgbClr val="FFFFFF"/>
                </a:solidFill>
                <a:latin typeface="Microsoft YaHei"/>
              </a:rPr>
              <a:t>报告结构总览</a:t>
            </a:r>
          </a:p>
        </p:txBody>
      </p:sp>
      <p:sp>
        <p:nvSpPr>
          <p:cNvPr id="6" name="TextBox 5"/>
          <p:cNvSpPr txBox="1"/>
          <p:nvPr/>
        </p:nvSpPr>
        <p:spPr>
          <a:xfrm>
            <a:off x="8686800" y="210312"/>
            <a:ext cx="3108960" cy="201168"/>
          </a:xfrm>
          <a:prstGeom prst="rect">
            <a:avLst/>
          </a:prstGeom>
          <a:noFill/>
          <a:ln>
            <a:noFill/>
          </a:ln>
        </p:spPr>
        <p:txBody>
          <a:bodyPr wrap="square" lIns="73152" rIns="73152" tIns="36576" bIns="36576" anchor="t">
            <a:spAutoFit/>
          </a:bodyPr>
          <a:lstStyle/>
          <a:p>
            <a:pPr algn="r"/>
            <a:r>
              <a:rPr sz="850" b="0">
                <a:solidFill>
                  <a:srgbClr val="C9D2DC"/>
                </a:solidFill>
                <a:latin typeface="Microsoft YaHei"/>
              </a:rPr>
              <a:t>融策·审盾研究</a:t>
            </a:r>
          </a:p>
        </p:txBody>
      </p:sp>
      <p:sp>
        <p:nvSpPr>
          <p:cNvPr id="7" name="TextBox 6"/>
          <p:cNvSpPr txBox="1"/>
          <p:nvPr/>
        </p:nvSpPr>
        <p:spPr>
          <a:xfrm>
            <a:off x="1143000" y="1097280"/>
            <a:ext cx="594360" cy="292608"/>
          </a:xfrm>
          <a:prstGeom prst="rect">
            <a:avLst/>
          </a:prstGeom>
          <a:noFill/>
          <a:ln>
            <a:noFill/>
          </a:ln>
        </p:spPr>
        <p:txBody>
          <a:bodyPr wrap="square" lIns="73152" rIns="73152" tIns="36576" bIns="36576" anchor="t">
            <a:spAutoFit/>
          </a:bodyPr>
          <a:lstStyle/>
          <a:p>
            <a:pPr algn="l"/>
            <a:r>
              <a:rPr sz="1700" b="1">
                <a:solidFill>
                  <a:srgbClr val="B88A44"/>
                </a:solidFill>
                <a:latin typeface="Microsoft YaHei"/>
              </a:rPr>
              <a:t>01</a:t>
            </a:r>
          </a:p>
        </p:txBody>
      </p:sp>
      <p:sp>
        <p:nvSpPr>
          <p:cNvPr id="8" name="Rectangle 7"/>
          <p:cNvSpPr/>
          <p:nvPr/>
        </p:nvSpPr>
        <p:spPr>
          <a:xfrm>
            <a:off x="1874519" y="1261872"/>
            <a:ext cx="411480" cy="18288"/>
          </a:xfrm>
          <a:prstGeom prst="rect">
            <a:avLst/>
          </a:prstGeom>
          <a:solidFill>
            <a:srgbClr val="D9DE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423160" y="1097280"/>
            <a:ext cx="6858000" cy="292608"/>
          </a:xfrm>
          <a:prstGeom prst="rect">
            <a:avLst/>
          </a:prstGeom>
          <a:noFill/>
          <a:ln>
            <a:noFill/>
          </a:ln>
        </p:spPr>
        <p:txBody>
          <a:bodyPr wrap="square" lIns="73152" rIns="73152" tIns="36576" bIns="36576" anchor="t">
            <a:spAutoFit/>
          </a:bodyPr>
          <a:lstStyle/>
          <a:p>
            <a:pPr algn="l"/>
            <a:r>
              <a:rPr sz="1400" b="1">
                <a:solidFill>
                  <a:srgbClr val="1F2933"/>
                </a:solidFill>
                <a:latin typeface="Microsoft YaHei"/>
              </a:rPr>
              <a:t>行业痛点：传统审计报告为何不够像研报</a:t>
            </a:r>
          </a:p>
        </p:txBody>
      </p:sp>
      <p:sp>
        <p:nvSpPr>
          <p:cNvPr id="10" name="TextBox 9"/>
          <p:cNvSpPr txBox="1"/>
          <p:nvPr/>
        </p:nvSpPr>
        <p:spPr>
          <a:xfrm>
            <a:off x="10287000" y="1097280"/>
            <a:ext cx="365760" cy="256032"/>
          </a:xfrm>
          <a:prstGeom prst="rect">
            <a:avLst/>
          </a:prstGeom>
          <a:noFill/>
          <a:ln>
            <a:noFill/>
          </a:ln>
        </p:spPr>
        <p:txBody>
          <a:bodyPr wrap="square" lIns="73152" rIns="73152" tIns="36576" bIns="36576" anchor="t">
            <a:spAutoFit/>
          </a:bodyPr>
          <a:lstStyle/>
          <a:p>
            <a:pPr algn="r"/>
            <a:r>
              <a:rPr sz="1000" b="0">
                <a:solidFill>
                  <a:srgbClr val="8793A0"/>
                </a:solidFill>
                <a:latin typeface="Microsoft YaHei"/>
              </a:rPr>
              <a:t>4</a:t>
            </a:r>
          </a:p>
        </p:txBody>
      </p:sp>
      <p:sp>
        <p:nvSpPr>
          <p:cNvPr id="11" name="TextBox 10"/>
          <p:cNvSpPr txBox="1"/>
          <p:nvPr/>
        </p:nvSpPr>
        <p:spPr>
          <a:xfrm>
            <a:off x="1143000" y="1847088"/>
            <a:ext cx="594360" cy="292608"/>
          </a:xfrm>
          <a:prstGeom prst="rect">
            <a:avLst/>
          </a:prstGeom>
          <a:noFill/>
          <a:ln>
            <a:noFill/>
          </a:ln>
        </p:spPr>
        <p:txBody>
          <a:bodyPr wrap="square" lIns="73152" rIns="73152" tIns="36576" bIns="36576" anchor="t">
            <a:spAutoFit/>
          </a:bodyPr>
          <a:lstStyle/>
          <a:p>
            <a:pPr algn="l"/>
            <a:r>
              <a:rPr sz="1700" b="1">
                <a:solidFill>
                  <a:srgbClr val="B88A44"/>
                </a:solidFill>
                <a:latin typeface="Microsoft YaHei"/>
              </a:rPr>
              <a:t>02</a:t>
            </a:r>
          </a:p>
        </p:txBody>
      </p:sp>
      <p:sp>
        <p:nvSpPr>
          <p:cNvPr id="12" name="Rectangle 11"/>
          <p:cNvSpPr/>
          <p:nvPr/>
        </p:nvSpPr>
        <p:spPr>
          <a:xfrm>
            <a:off x="1874519" y="2011680"/>
            <a:ext cx="411480" cy="18288"/>
          </a:xfrm>
          <a:prstGeom prst="rect">
            <a:avLst/>
          </a:prstGeom>
          <a:solidFill>
            <a:srgbClr val="D9DE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423160" y="1847088"/>
            <a:ext cx="6858000" cy="292608"/>
          </a:xfrm>
          <a:prstGeom prst="rect">
            <a:avLst/>
          </a:prstGeom>
          <a:noFill/>
          <a:ln>
            <a:noFill/>
          </a:ln>
        </p:spPr>
        <p:txBody>
          <a:bodyPr wrap="square" lIns="73152" rIns="73152" tIns="36576" bIns="36576" anchor="t">
            <a:spAutoFit/>
          </a:bodyPr>
          <a:lstStyle/>
          <a:p>
            <a:pPr algn="l"/>
            <a:r>
              <a:rPr sz="1400" b="1">
                <a:solidFill>
                  <a:srgbClr val="1F2933"/>
                </a:solidFill>
                <a:latin typeface="Microsoft YaHei"/>
              </a:rPr>
              <a:t>模板逻辑：观点-证据-判断-行动闭环</a:t>
            </a:r>
          </a:p>
        </p:txBody>
      </p:sp>
      <p:sp>
        <p:nvSpPr>
          <p:cNvPr id="14" name="TextBox 13"/>
          <p:cNvSpPr txBox="1"/>
          <p:nvPr/>
        </p:nvSpPr>
        <p:spPr>
          <a:xfrm>
            <a:off x="10287000" y="1847088"/>
            <a:ext cx="365760" cy="256032"/>
          </a:xfrm>
          <a:prstGeom prst="rect">
            <a:avLst/>
          </a:prstGeom>
          <a:noFill/>
          <a:ln>
            <a:noFill/>
          </a:ln>
        </p:spPr>
        <p:txBody>
          <a:bodyPr wrap="square" lIns="73152" rIns="73152" tIns="36576" bIns="36576" anchor="t">
            <a:spAutoFit/>
          </a:bodyPr>
          <a:lstStyle/>
          <a:p>
            <a:pPr algn="r"/>
            <a:r>
              <a:rPr sz="1000" b="0">
                <a:solidFill>
                  <a:srgbClr val="8793A0"/>
                </a:solidFill>
                <a:latin typeface="Microsoft YaHei"/>
              </a:rPr>
              <a:t>5</a:t>
            </a:r>
          </a:p>
        </p:txBody>
      </p:sp>
      <p:sp>
        <p:nvSpPr>
          <p:cNvPr id="15" name="TextBox 14"/>
          <p:cNvSpPr txBox="1"/>
          <p:nvPr/>
        </p:nvSpPr>
        <p:spPr>
          <a:xfrm>
            <a:off x="1143000" y="2596896"/>
            <a:ext cx="594360" cy="292608"/>
          </a:xfrm>
          <a:prstGeom prst="rect">
            <a:avLst/>
          </a:prstGeom>
          <a:noFill/>
          <a:ln>
            <a:noFill/>
          </a:ln>
        </p:spPr>
        <p:txBody>
          <a:bodyPr wrap="square" lIns="73152" rIns="73152" tIns="36576" bIns="36576" anchor="t">
            <a:spAutoFit/>
          </a:bodyPr>
          <a:lstStyle/>
          <a:p>
            <a:pPr algn="l"/>
            <a:r>
              <a:rPr sz="1700" b="1">
                <a:solidFill>
                  <a:srgbClr val="B88A44"/>
                </a:solidFill>
                <a:latin typeface="Microsoft YaHei"/>
              </a:rPr>
              <a:t>03</a:t>
            </a:r>
          </a:p>
        </p:txBody>
      </p:sp>
      <p:sp>
        <p:nvSpPr>
          <p:cNvPr id="16" name="Rectangle 15"/>
          <p:cNvSpPr/>
          <p:nvPr/>
        </p:nvSpPr>
        <p:spPr>
          <a:xfrm>
            <a:off x="1874519" y="2761488"/>
            <a:ext cx="411480" cy="18288"/>
          </a:xfrm>
          <a:prstGeom prst="rect">
            <a:avLst/>
          </a:prstGeom>
          <a:solidFill>
            <a:srgbClr val="D9DE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423160" y="2596896"/>
            <a:ext cx="6858000" cy="292608"/>
          </a:xfrm>
          <a:prstGeom prst="rect">
            <a:avLst/>
          </a:prstGeom>
          <a:noFill/>
          <a:ln>
            <a:noFill/>
          </a:ln>
        </p:spPr>
        <p:txBody>
          <a:bodyPr wrap="square" lIns="73152" rIns="73152" tIns="36576" bIns="36576" anchor="t">
            <a:spAutoFit/>
          </a:bodyPr>
          <a:lstStyle/>
          <a:p>
            <a:pPr algn="l"/>
            <a:r>
              <a:rPr sz="1400" b="1">
                <a:solidFill>
                  <a:srgbClr val="1F2933"/>
                </a:solidFill>
                <a:latin typeface="Microsoft YaHei"/>
              </a:rPr>
              <a:t>图表体系：趋势、结构、对比、矩阵四类母版</a:t>
            </a:r>
          </a:p>
        </p:txBody>
      </p:sp>
      <p:sp>
        <p:nvSpPr>
          <p:cNvPr id="18" name="TextBox 17"/>
          <p:cNvSpPr txBox="1"/>
          <p:nvPr/>
        </p:nvSpPr>
        <p:spPr>
          <a:xfrm>
            <a:off x="10287000" y="2596896"/>
            <a:ext cx="365760" cy="256032"/>
          </a:xfrm>
          <a:prstGeom prst="rect">
            <a:avLst/>
          </a:prstGeom>
          <a:noFill/>
          <a:ln>
            <a:noFill/>
          </a:ln>
        </p:spPr>
        <p:txBody>
          <a:bodyPr wrap="square" lIns="73152" rIns="73152" tIns="36576" bIns="36576" anchor="t">
            <a:spAutoFit/>
          </a:bodyPr>
          <a:lstStyle/>
          <a:p>
            <a:pPr algn="r"/>
            <a:r>
              <a:rPr sz="1000" b="0">
                <a:solidFill>
                  <a:srgbClr val="8793A0"/>
                </a:solidFill>
                <a:latin typeface="Microsoft YaHei"/>
              </a:rPr>
              <a:t>6</a:t>
            </a:r>
          </a:p>
        </p:txBody>
      </p:sp>
      <p:sp>
        <p:nvSpPr>
          <p:cNvPr id="19" name="TextBox 18"/>
          <p:cNvSpPr txBox="1"/>
          <p:nvPr/>
        </p:nvSpPr>
        <p:spPr>
          <a:xfrm>
            <a:off x="1143000" y="3346704"/>
            <a:ext cx="594360" cy="292608"/>
          </a:xfrm>
          <a:prstGeom prst="rect">
            <a:avLst/>
          </a:prstGeom>
          <a:noFill/>
          <a:ln>
            <a:noFill/>
          </a:ln>
        </p:spPr>
        <p:txBody>
          <a:bodyPr wrap="square" lIns="73152" rIns="73152" tIns="36576" bIns="36576" anchor="t">
            <a:spAutoFit/>
          </a:bodyPr>
          <a:lstStyle/>
          <a:p>
            <a:pPr algn="l"/>
            <a:r>
              <a:rPr sz="1700" b="1">
                <a:solidFill>
                  <a:srgbClr val="B88A44"/>
                </a:solidFill>
                <a:latin typeface="Microsoft YaHei"/>
              </a:rPr>
              <a:t>04</a:t>
            </a:r>
          </a:p>
        </p:txBody>
      </p:sp>
      <p:sp>
        <p:nvSpPr>
          <p:cNvPr id="20" name="Rectangle 19"/>
          <p:cNvSpPr/>
          <p:nvPr/>
        </p:nvSpPr>
        <p:spPr>
          <a:xfrm>
            <a:off x="1874519" y="3511296"/>
            <a:ext cx="411480" cy="18288"/>
          </a:xfrm>
          <a:prstGeom prst="rect">
            <a:avLst/>
          </a:prstGeom>
          <a:solidFill>
            <a:srgbClr val="D9DE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423160" y="3346704"/>
            <a:ext cx="6858000" cy="292608"/>
          </a:xfrm>
          <a:prstGeom prst="rect">
            <a:avLst/>
          </a:prstGeom>
          <a:noFill/>
          <a:ln>
            <a:noFill/>
          </a:ln>
        </p:spPr>
        <p:txBody>
          <a:bodyPr wrap="square" lIns="73152" rIns="73152" tIns="36576" bIns="36576" anchor="t">
            <a:spAutoFit/>
          </a:bodyPr>
          <a:lstStyle/>
          <a:p>
            <a:pPr algn="l"/>
            <a:r>
              <a:rPr sz="1400" b="1">
                <a:solidFill>
                  <a:srgbClr val="1F2933"/>
                </a:solidFill>
                <a:latin typeface="Microsoft YaHei"/>
              </a:rPr>
              <a:t>业务适配：绩效评价/经责/工程/专项资金</a:t>
            </a:r>
          </a:p>
        </p:txBody>
      </p:sp>
      <p:sp>
        <p:nvSpPr>
          <p:cNvPr id="22" name="TextBox 21"/>
          <p:cNvSpPr txBox="1"/>
          <p:nvPr/>
        </p:nvSpPr>
        <p:spPr>
          <a:xfrm>
            <a:off x="10287000" y="3346704"/>
            <a:ext cx="365760" cy="256032"/>
          </a:xfrm>
          <a:prstGeom prst="rect">
            <a:avLst/>
          </a:prstGeom>
          <a:noFill/>
          <a:ln>
            <a:noFill/>
          </a:ln>
        </p:spPr>
        <p:txBody>
          <a:bodyPr wrap="square" lIns="73152" rIns="73152" tIns="36576" bIns="36576" anchor="t">
            <a:spAutoFit/>
          </a:bodyPr>
          <a:lstStyle/>
          <a:p>
            <a:pPr algn="r"/>
            <a:r>
              <a:rPr sz="1000" b="0">
                <a:solidFill>
                  <a:srgbClr val="8793A0"/>
                </a:solidFill>
                <a:latin typeface="Microsoft YaHei"/>
              </a:rPr>
              <a:t>7</a:t>
            </a:r>
          </a:p>
        </p:txBody>
      </p:sp>
      <p:sp>
        <p:nvSpPr>
          <p:cNvPr id="23" name="TextBox 22"/>
          <p:cNvSpPr txBox="1"/>
          <p:nvPr/>
        </p:nvSpPr>
        <p:spPr>
          <a:xfrm>
            <a:off x="1143000" y="4096511"/>
            <a:ext cx="594360" cy="292608"/>
          </a:xfrm>
          <a:prstGeom prst="rect">
            <a:avLst/>
          </a:prstGeom>
          <a:noFill/>
          <a:ln>
            <a:noFill/>
          </a:ln>
        </p:spPr>
        <p:txBody>
          <a:bodyPr wrap="square" lIns="73152" rIns="73152" tIns="36576" bIns="36576" anchor="t">
            <a:spAutoFit/>
          </a:bodyPr>
          <a:lstStyle/>
          <a:p>
            <a:pPr algn="l"/>
            <a:r>
              <a:rPr sz="1700" b="1">
                <a:solidFill>
                  <a:srgbClr val="B88A44"/>
                </a:solidFill>
                <a:latin typeface="Microsoft YaHei"/>
              </a:rPr>
              <a:t>05</a:t>
            </a:r>
          </a:p>
        </p:txBody>
      </p:sp>
      <p:sp>
        <p:nvSpPr>
          <p:cNvPr id="24" name="Rectangle 23"/>
          <p:cNvSpPr/>
          <p:nvPr/>
        </p:nvSpPr>
        <p:spPr>
          <a:xfrm>
            <a:off x="1874519" y="4261103"/>
            <a:ext cx="411480" cy="18288"/>
          </a:xfrm>
          <a:prstGeom prst="rect">
            <a:avLst/>
          </a:prstGeom>
          <a:solidFill>
            <a:srgbClr val="D9DE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423160" y="4096511"/>
            <a:ext cx="6858000" cy="292608"/>
          </a:xfrm>
          <a:prstGeom prst="rect">
            <a:avLst/>
          </a:prstGeom>
          <a:noFill/>
          <a:ln>
            <a:noFill/>
          </a:ln>
        </p:spPr>
        <p:txBody>
          <a:bodyPr wrap="square" lIns="73152" rIns="73152" tIns="36576" bIns="36576" anchor="t">
            <a:spAutoFit/>
          </a:bodyPr>
          <a:lstStyle/>
          <a:p>
            <a:pPr algn="l"/>
            <a:r>
              <a:rPr sz="1400" b="1">
                <a:solidFill>
                  <a:srgbClr val="1F2933"/>
                </a:solidFill>
                <a:latin typeface="Microsoft YaHei"/>
              </a:rPr>
              <a:t>实施路径：从样板报告到公司级模板库</a:t>
            </a:r>
          </a:p>
        </p:txBody>
      </p:sp>
      <p:sp>
        <p:nvSpPr>
          <p:cNvPr id="26" name="TextBox 25"/>
          <p:cNvSpPr txBox="1"/>
          <p:nvPr/>
        </p:nvSpPr>
        <p:spPr>
          <a:xfrm>
            <a:off x="10287000" y="4096511"/>
            <a:ext cx="365760" cy="256032"/>
          </a:xfrm>
          <a:prstGeom prst="rect">
            <a:avLst/>
          </a:prstGeom>
          <a:noFill/>
          <a:ln>
            <a:noFill/>
          </a:ln>
        </p:spPr>
        <p:txBody>
          <a:bodyPr wrap="square" lIns="73152" rIns="73152" tIns="36576" bIns="36576" anchor="t">
            <a:spAutoFit/>
          </a:bodyPr>
          <a:lstStyle/>
          <a:p>
            <a:pPr algn="r"/>
            <a:r>
              <a:rPr sz="1000" b="0">
                <a:solidFill>
                  <a:srgbClr val="8793A0"/>
                </a:solidFill>
                <a:latin typeface="Microsoft YaHei"/>
              </a:rPr>
              <a:t>8</a:t>
            </a:r>
          </a:p>
        </p:txBody>
      </p:sp>
      <p:sp>
        <p:nvSpPr>
          <p:cNvPr id="27" name="TextBox 26"/>
          <p:cNvSpPr txBox="1"/>
          <p:nvPr/>
        </p:nvSpPr>
        <p:spPr>
          <a:xfrm>
            <a:off x="347472" y="6473952"/>
            <a:ext cx="5303520" cy="146304"/>
          </a:xfrm>
          <a:prstGeom prst="rect">
            <a:avLst/>
          </a:prstGeom>
          <a:noFill/>
          <a:ln>
            <a:noFill/>
          </a:ln>
        </p:spPr>
        <p:txBody>
          <a:bodyPr wrap="square" lIns="73152" rIns="73152" tIns="36576" bIns="36576" anchor="t">
            <a:spAutoFit/>
          </a:bodyPr>
          <a:lstStyle/>
          <a:p>
            <a:pPr algn="l"/>
            <a:r>
              <a:rPr sz="720" b="0">
                <a:solidFill>
                  <a:srgbClr val="8793A0"/>
                </a:solidFill>
                <a:latin typeface="Microsoft YaHei"/>
              </a:rPr>
              <a:t>资料来源：融策AI审计中台</a:t>
            </a:r>
          </a:p>
        </p:txBody>
      </p:sp>
      <p:sp>
        <p:nvSpPr>
          <p:cNvPr id="28" name="TextBox 27"/>
          <p:cNvSpPr txBox="1"/>
          <p:nvPr/>
        </p:nvSpPr>
        <p:spPr>
          <a:xfrm>
            <a:off x="9875520" y="6473952"/>
            <a:ext cx="1920240" cy="146304"/>
          </a:xfrm>
          <a:prstGeom prst="rect">
            <a:avLst/>
          </a:prstGeom>
          <a:noFill/>
          <a:ln>
            <a:noFill/>
          </a:ln>
        </p:spPr>
        <p:txBody>
          <a:bodyPr wrap="square" lIns="73152" rIns="73152" tIns="36576" bIns="36576" anchor="t">
            <a:spAutoFit/>
          </a:bodyPr>
          <a:lstStyle/>
          <a:p>
            <a:pPr algn="r"/>
            <a:r>
              <a:rPr sz="720" b="0">
                <a:solidFill>
                  <a:srgbClr val="8793A0"/>
                </a:solidFill>
                <a:latin typeface="Microsoft YaHei"/>
              </a:rPr>
              <a:t>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61A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355080"/>
            <a:ext cx="12191695" cy="109728"/>
          </a:xfrm>
          <a:prstGeom prst="rect">
            <a:avLst/>
          </a:prstGeom>
          <a:solidFill>
            <a:srgbClr val="B88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960120"/>
            <a:ext cx="1097280" cy="320040"/>
          </a:xfrm>
          <a:prstGeom prst="rect">
            <a:avLst/>
          </a:prstGeom>
          <a:noFill/>
          <a:ln>
            <a:noFill/>
          </a:ln>
        </p:spPr>
        <p:txBody>
          <a:bodyPr wrap="square" lIns="73152" rIns="73152" tIns="36576" bIns="36576" anchor="t">
            <a:spAutoFit/>
          </a:bodyPr>
          <a:lstStyle/>
          <a:p>
            <a:pPr algn="l"/>
            <a:r>
              <a:rPr sz="2400" b="1">
                <a:solidFill>
                  <a:srgbClr val="D6B071"/>
                </a:solidFill>
                <a:latin typeface="Microsoft YaHei"/>
              </a:rPr>
              <a:t>01</a:t>
            </a:r>
          </a:p>
        </p:txBody>
      </p:sp>
      <p:sp>
        <p:nvSpPr>
          <p:cNvPr id="5" name="TextBox 4"/>
          <p:cNvSpPr txBox="1"/>
          <p:nvPr/>
        </p:nvSpPr>
        <p:spPr>
          <a:xfrm>
            <a:off x="713232" y="1600200"/>
            <a:ext cx="8046720" cy="658368"/>
          </a:xfrm>
          <a:prstGeom prst="rect">
            <a:avLst/>
          </a:prstGeom>
          <a:noFill/>
          <a:ln>
            <a:noFill/>
          </a:ln>
        </p:spPr>
        <p:txBody>
          <a:bodyPr wrap="square" lIns="73152" rIns="73152" tIns="36576" bIns="36576" anchor="t">
            <a:spAutoFit/>
          </a:bodyPr>
          <a:lstStyle/>
          <a:p>
            <a:pPr algn="l"/>
            <a:r>
              <a:rPr sz="3400" b="1">
                <a:solidFill>
                  <a:srgbClr val="FFFFFF"/>
                </a:solidFill>
                <a:latin typeface="Microsoft YaHei"/>
              </a:rPr>
              <a:t>行业痛点</a:t>
            </a:r>
          </a:p>
        </p:txBody>
      </p:sp>
      <p:sp>
        <p:nvSpPr>
          <p:cNvPr id="6" name="TextBox 5"/>
          <p:cNvSpPr txBox="1"/>
          <p:nvPr/>
        </p:nvSpPr>
        <p:spPr>
          <a:xfrm>
            <a:off x="749808" y="2423160"/>
            <a:ext cx="7863840" cy="384048"/>
          </a:xfrm>
          <a:prstGeom prst="rect">
            <a:avLst/>
          </a:prstGeom>
          <a:noFill/>
          <a:ln>
            <a:noFill/>
          </a:ln>
        </p:spPr>
        <p:txBody>
          <a:bodyPr wrap="square" lIns="73152" rIns="73152" tIns="36576" bIns="36576" anchor="t">
            <a:spAutoFit/>
          </a:bodyPr>
          <a:lstStyle/>
          <a:p>
            <a:pPr algn="l"/>
            <a:r>
              <a:rPr sz="2000" b="0">
                <a:solidFill>
                  <a:srgbClr val="C8D2DC"/>
                </a:solidFill>
                <a:latin typeface="Microsoft YaHei"/>
              </a:rPr>
              <a:t>传统审计报告为何“不像研报”</a:t>
            </a:r>
          </a:p>
        </p:txBody>
      </p:sp>
      <p:sp>
        <p:nvSpPr>
          <p:cNvPr id="7" name="TextBox 6"/>
          <p:cNvSpPr txBox="1"/>
          <p:nvPr/>
        </p:nvSpPr>
        <p:spPr>
          <a:xfrm>
            <a:off x="777240" y="3794760"/>
            <a:ext cx="7132320" cy="822960"/>
          </a:xfrm>
          <a:prstGeom prst="rect">
            <a:avLst/>
          </a:prstGeom>
          <a:noFill/>
          <a:ln>
            <a:noFill/>
          </a:ln>
        </p:spPr>
        <p:txBody>
          <a:bodyPr wrap="square" lIns="73152" rIns="73152" tIns="36576" bIns="36576" anchor="t">
            <a:spAutoFit/>
          </a:bodyPr>
          <a:lstStyle/>
          <a:p>
            <a:pPr algn="l"/>
            <a:r>
              <a:rPr sz="1400" b="0">
                <a:solidFill>
                  <a:srgbClr val="DCE2E8"/>
                </a:solidFill>
                <a:latin typeface="Microsoft YaHei"/>
              </a:rPr>
              <a:t>报告不是资料堆砌，而是围绕判断组织证据。
真正的研报版式，先让读者相信结论，再让读者看到证据。</a:t>
            </a:r>
          </a:p>
        </p:txBody>
      </p:sp>
      <p:sp>
        <p:nvSpPr>
          <p:cNvPr id="8" name="TextBox 7"/>
          <p:cNvSpPr txBox="1"/>
          <p:nvPr/>
        </p:nvSpPr>
        <p:spPr>
          <a:xfrm>
            <a:off x="10149840" y="6126480"/>
            <a:ext cx="1280160" cy="201168"/>
          </a:xfrm>
          <a:prstGeom prst="rect">
            <a:avLst/>
          </a:prstGeom>
          <a:noFill/>
          <a:ln>
            <a:noFill/>
          </a:ln>
        </p:spPr>
        <p:txBody>
          <a:bodyPr wrap="square" lIns="73152" rIns="73152" tIns="36576" bIns="36576" anchor="t">
            <a:spAutoFit/>
          </a:bodyPr>
          <a:lstStyle/>
          <a:p>
            <a:pPr algn="r"/>
            <a:r>
              <a:rPr sz="900" b="0">
                <a:solidFill>
                  <a:srgbClr val="BEC8D2"/>
                </a:solidFill>
                <a:latin typeface="Microsoft YaHei"/>
              </a:rPr>
              <a:t>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475488"/>
          </a:xfrm>
          <a:prstGeom prst="rect">
            <a:avLst/>
          </a:prstGeom>
          <a:solidFill>
            <a:srgbClr val="061A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75488"/>
            <a:ext cx="12191695" cy="54864"/>
          </a:xfrm>
          <a:prstGeom prst="rect">
            <a:avLst/>
          </a:prstGeom>
          <a:solidFill>
            <a:srgbClr val="B88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47472" y="73152"/>
            <a:ext cx="2377440" cy="146304"/>
          </a:xfrm>
          <a:prstGeom prst="rect">
            <a:avLst/>
          </a:prstGeom>
          <a:noFill/>
          <a:ln>
            <a:noFill/>
          </a:ln>
        </p:spPr>
        <p:txBody>
          <a:bodyPr wrap="square" lIns="73152" rIns="73152" tIns="36576" bIns="36576" anchor="t">
            <a:spAutoFit/>
          </a:bodyPr>
          <a:lstStyle/>
          <a:p>
            <a:pPr algn="l"/>
            <a:r>
              <a:rPr sz="800" b="1">
                <a:solidFill>
                  <a:srgbClr val="D6B071"/>
                </a:solidFill>
                <a:latin typeface="Microsoft YaHei"/>
              </a:rPr>
              <a:t>图文分析</a:t>
            </a:r>
          </a:p>
        </p:txBody>
      </p:sp>
      <p:sp>
        <p:nvSpPr>
          <p:cNvPr id="5" name="TextBox 4"/>
          <p:cNvSpPr txBox="1"/>
          <p:nvPr/>
        </p:nvSpPr>
        <p:spPr>
          <a:xfrm>
            <a:off x="347472" y="228600"/>
            <a:ext cx="7498079" cy="201168"/>
          </a:xfrm>
          <a:prstGeom prst="rect">
            <a:avLst/>
          </a:prstGeom>
          <a:noFill/>
          <a:ln>
            <a:noFill/>
          </a:ln>
        </p:spPr>
        <p:txBody>
          <a:bodyPr wrap="square" lIns="73152" rIns="73152" tIns="36576" bIns="36576" anchor="t">
            <a:spAutoFit/>
          </a:bodyPr>
          <a:lstStyle/>
          <a:p>
            <a:pPr algn="l"/>
            <a:r>
              <a:rPr sz="1400" b="1">
                <a:solidFill>
                  <a:srgbClr val="FFFFFF"/>
                </a:solidFill>
                <a:latin typeface="Microsoft YaHei"/>
              </a:rPr>
              <a:t>财政收入修复斜率放缓，税收收入弹性仍是关键变量</a:t>
            </a:r>
          </a:p>
        </p:txBody>
      </p:sp>
      <p:sp>
        <p:nvSpPr>
          <p:cNvPr id="6" name="TextBox 5"/>
          <p:cNvSpPr txBox="1"/>
          <p:nvPr/>
        </p:nvSpPr>
        <p:spPr>
          <a:xfrm>
            <a:off x="8686800" y="210312"/>
            <a:ext cx="3108960" cy="201168"/>
          </a:xfrm>
          <a:prstGeom prst="rect">
            <a:avLst/>
          </a:prstGeom>
          <a:noFill/>
          <a:ln>
            <a:noFill/>
          </a:ln>
        </p:spPr>
        <p:txBody>
          <a:bodyPr wrap="square" lIns="73152" rIns="73152" tIns="36576" bIns="36576" anchor="t">
            <a:spAutoFit/>
          </a:bodyPr>
          <a:lstStyle/>
          <a:p>
            <a:pPr algn="r"/>
            <a:r>
              <a:rPr sz="850" b="0">
                <a:solidFill>
                  <a:srgbClr val="C9D2DC"/>
                </a:solidFill>
                <a:latin typeface="Microsoft YaHei"/>
              </a:rPr>
              <a:t>融策·审盾研究</a:t>
            </a:r>
          </a:p>
        </p:txBody>
      </p:sp>
      <p:sp>
        <p:nvSpPr>
          <p:cNvPr id="7" name="Rounded Rectangle 6"/>
          <p:cNvSpPr/>
          <p:nvPr/>
        </p:nvSpPr>
        <p:spPr>
          <a:xfrm>
            <a:off x="502920" y="822960"/>
            <a:ext cx="2148840" cy="594360"/>
          </a:xfrm>
          <a:prstGeom prst="roundRect">
            <a:avLst/>
          </a:prstGeom>
          <a:solidFill>
            <a:srgbClr val="F4F6F8"/>
          </a:solidFill>
          <a:ln w="9525">
            <a:solidFill>
              <a:srgbClr val="D9DE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12648" y="896112"/>
            <a:ext cx="1874519" cy="146304"/>
          </a:xfrm>
          <a:prstGeom prst="rect">
            <a:avLst/>
          </a:prstGeom>
          <a:noFill/>
          <a:ln>
            <a:noFill/>
          </a:ln>
        </p:spPr>
        <p:txBody>
          <a:bodyPr wrap="square" lIns="73152" rIns="73152" tIns="36576" bIns="36576" anchor="t">
            <a:spAutoFit/>
          </a:bodyPr>
          <a:lstStyle/>
          <a:p>
            <a:pPr algn="l"/>
            <a:r>
              <a:rPr sz="750" b="0">
                <a:solidFill>
                  <a:srgbClr val="53616D"/>
                </a:solidFill>
                <a:latin typeface="Microsoft YaHei"/>
              </a:rPr>
              <a:t>2025E预算收入</a:t>
            </a:r>
          </a:p>
        </p:txBody>
      </p:sp>
      <p:sp>
        <p:nvSpPr>
          <p:cNvPr id="9" name="TextBox 8"/>
          <p:cNvSpPr txBox="1"/>
          <p:nvPr/>
        </p:nvSpPr>
        <p:spPr>
          <a:xfrm>
            <a:off x="612648" y="1097280"/>
            <a:ext cx="1874519" cy="219456"/>
          </a:xfrm>
          <a:prstGeom prst="rect">
            <a:avLst/>
          </a:prstGeom>
          <a:noFill/>
          <a:ln>
            <a:noFill/>
          </a:ln>
        </p:spPr>
        <p:txBody>
          <a:bodyPr wrap="square" lIns="73152" rIns="73152" tIns="36576" bIns="36576" anchor="t">
            <a:spAutoFit/>
          </a:bodyPr>
          <a:lstStyle/>
          <a:p>
            <a:pPr algn="l"/>
            <a:r>
              <a:rPr sz="1500" b="1">
                <a:solidFill>
                  <a:srgbClr val="061A33"/>
                </a:solidFill>
                <a:latin typeface="Microsoft YaHei"/>
              </a:rPr>
              <a:t>22.8万亿</a:t>
            </a:r>
          </a:p>
        </p:txBody>
      </p:sp>
      <p:sp>
        <p:nvSpPr>
          <p:cNvPr id="10" name="Rounded Rectangle 9"/>
          <p:cNvSpPr/>
          <p:nvPr/>
        </p:nvSpPr>
        <p:spPr>
          <a:xfrm>
            <a:off x="2761488" y="822960"/>
            <a:ext cx="2148840" cy="594360"/>
          </a:xfrm>
          <a:prstGeom prst="roundRect">
            <a:avLst/>
          </a:prstGeom>
          <a:solidFill>
            <a:srgbClr val="F4F6F8"/>
          </a:solidFill>
          <a:ln w="9525">
            <a:solidFill>
              <a:srgbClr val="D9DE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871216" y="896112"/>
            <a:ext cx="1874519" cy="146304"/>
          </a:xfrm>
          <a:prstGeom prst="rect">
            <a:avLst/>
          </a:prstGeom>
          <a:noFill/>
          <a:ln>
            <a:noFill/>
          </a:ln>
        </p:spPr>
        <p:txBody>
          <a:bodyPr wrap="square" lIns="73152" rIns="73152" tIns="36576" bIns="36576" anchor="t">
            <a:spAutoFit/>
          </a:bodyPr>
          <a:lstStyle/>
          <a:p>
            <a:pPr algn="l"/>
            <a:r>
              <a:rPr sz="750" b="0">
                <a:solidFill>
                  <a:srgbClr val="53616D"/>
                </a:solidFill>
                <a:latin typeface="Microsoft YaHei"/>
              </a:rPr>
              <a:t>2024-2025E增量</a:t>
            </a:r>
          </a:p>
        </p:txBody>
      </p:sp>
      <p:sp>
        <p:nvSpPr>
          <p:cNvPr id="12" name="TextBox 11"/>
          <p:cNvSpPr txBox="1"/>
          <p:nvPr/>
        </p:nvSpPr>
        <p:spPr>
          <a:xfrm>
            <a:off x="2871216" y="1097280"/>
            <a:ext cx="1874519" cy="219456"/>
          </a:xfrm>
          <a:prstGeom prst="rect">
            <a:avLst/>
          </a:prstGeom>
          <a:noFill/>
          <a:ln>
            <a:noFill/>
          </a:ln>
        </p:spPr>
        <p:txBody>
          <a:bodyPr wrap="square" lIns="73152" rIns="73152" tIns="36576" bIns="36576" anchor="t">
            <a:spAutoFit/>
          </a:bodyPr>
          <a:lstStyle/>
          <a:p>
            <a:pPr algn="l"/>
            <a:r>
              <a:rPr sz="1500" b="1">
                <a:solidFill>
                  <a:srgbClr val="B88A44"/>
                </a:solidFill>
                <a:latin typeface="Microsoft YaHei"/>
              </a:rPr>
              <a:t>+0.8万亿</a:t>
            </a:r>
          </a:p>
        </p:txBody>
      </p:sp>
      <p:sp>
        <p:nvSpPr>
          <p:cNvPr id="13" name="Rounded Rectangle 12"/>
          <p:cNvSpPr/>
          <p:nvPr/>
        </p:nvSpPr>
        <p:spPr>
          <a:xfrm>
            <a:off x="5020056" y="822960"/>
            <a:ext cx="2148840" cy="594360"/>
          </a:xfrm>
          <a:prstGeom prst="roundRect">
            <a:avLst/>
          </a:prstGeom>
          <a:solidFill>
            <a:srgbClr val="F4F6F8"/>
          </a:solidFill>
          <a:ln w="9525">
            <a:solidFill>
              <a:srgbClr val="D9DE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129784" y="896112"/>
            <a:ext cx="1874519" cy="146304"/>
          </a:xfrm>
          <a:prstGeom prst="rect">
            <a:avLst/>
          </a:prstGeom>
          <a:noFill/>
          <a:ln>
            <a:noFill/>
          </a:ln>
        </p:spPr>
        <p:txBody>
          <a:bodyPr wrap="square" lIns="73152" rIns="73152" tIns="36576" bIns="36576" anchor="t">
            <a:spAutoFit/>
          </a:bodyPr>
          <a:lstStyle/>
          <a:p>
            <a:pPr algn="l"/>
            <a:r>
              <a:rPr sz="750" b="0">
                <a:solidFill>
                  <a:srgbClr val="53616D"/>
                </a:solidFill>
                <a:latin typeface="Microsoft YaHei"/>
              </a:rPr>
              <a:t>税收占比</a:t>
            </a:r>
          </a:p>
        </p:txBody>
      </p:sp>
      <p:sp>
        <p:nvSpPr>
          <p:cNvPr id="15" name="TextBox 14"/>
          <p:cNvSpPr txBox="1"/>
          <p:nvPr/>
        </p:nvSpPr>
        <p:spPr>
          <a:xfrm>
            <a:off x="5129784" y="1097280"/>
            <a:ext cx="1874519" cy="219456"/>
          </a:xfrm>
          <a:prstGeom prst="rect">
            <a:avLst/>
          </a:prstGeom>
          <a:noFill/>
          <a:ln>
            <a:noFill/>
          </a:ln>
        </p:spPr>
        <p:txBody>
          <a:bodyPr wrap="square" lIns="73152" rIns="73152" tIns="36576" bIns="36576" anchor="t">
            <a:spAutoFit/>
          </a:bodyPr>
          <a:lstStyle/>
          <a:p>
            <a:pPr algn="l"/>
            <a:r>
              <a:rPr sz="1500" b="1">
                <a:solidFill>
                  <a:srgbClr val="1A6F78"/>
                </a:solidFill>
                <a:latin typeface="Microsoft YaHei"/>
              </a:rPr>
              <a:t>83.3%</a:t>
            </a:r>
          </a:p>
        </p:txBody>
      </p:sp>
      <p:sp>
        <p:nvSpPr>
          <p:cNvPr id="16" name="TextBox 15"/>
          <p:cNvSpPr txBox="1"/>
          <p:nvPr/>
        </p:nvSpPr>
        <p:spPr>
          <a:xfrm>
            <a:off x="502920" y="1664208"/>
            <a:ext cx="6217920" cy="237744"/>
          </a:xfrm>
          <a:prstGeom prst="rect">
            <a:avLst/>
          </a:prstGeom>
          <a:noFill/>
          <a:ln>
            <a:noFill/>
          </a:ln>
        </p:spPr>
        <p:txBody>
          <a:bodyPr wrap="square" lIns="73152" rIns="73152" tIns="36576" bIns="36576" anchor="t">
            <a:spAutoFit/>
          </a:bodyPr>
          <a:lstStyle/>
          <a:p>
            <a:pPr algn="l"/>
            <a:r>
              <a:rPr sz="1150" b="1">
                <a:solidFill>
                  <a:srgbClr val="1F2933"/>
                </a:solidFill>
                <a:latin typeface="Microsoft YaHei"/>
              </a:rPr>
              <a:t>图1：全国一般公共预算收入与税收收入走势（万亿元）</a:t>
            </a:r>
          </a:p>
        </p:txBody>
      </p:sp>
      <p:graphicFrame>
        <p:nvGraphicFramePr>
          <p:cNvPr id="17" name="Chart 16"/>
          <p:cNvGraphicFramePr>
            <a:graphicFrameLocks noGrp="1"/>
          </p:cNvGraphicFramePr>
          <p:nvPr/>
        </p:nvGraphicFramePr>
        <p:xfrm>
          <a:off x="502920" y="2029968"/>
          <a:ext cx="6720840" cy="3675887"/>
        </p:xfrm>
        <a:graphic>
          <a:graphicData uri="http://schemas.openxmlformats.org/drawingml/2006/chart">
            <c:chart xmlns:c="http://schemas.openxmlformats.org/drawingml/2006/chart" r:id="rId2"/>
          </a:graphicData>
        </a:graphic>
      </p:graphicFrame>
      <p:sp>
        <p:nvSpPr>
          <p:cNvPr id="18" name="Rounded Rectangle 17"/>
          <p:cNvSpPr/>
          <p:nvPr/>
        </p:nvSpPr>
        <p:spPr>
          <a:xfrm>
            <a:off x="7635240" y="1664208"/>
            <a:ext cx="3886200" cy="4160520"/>
          </a:xfrm>
          <a:prstGeom prst="roundRect">
            <a:avLst/>
          </a:prstGeom>
          <a:solidFill>
            <a:srgbClr val="FAFBFC"/>
          </a:solidFill>
          <a:ln w="9525">
            <a:solidFill>
              <a:srgbClr val="D9DE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635240" y="1664208"/>
            <a:ext cx="3886200" cy="347472"/>
          </a:xfrm>
          <a:prstGeom prst="rect">
            <a:avLst/>
          </a:prstGeom>
          <a:solidFill>
            <a:srgbClr val="0A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63256" y="1737360"/>
            <a:ext cx="3657600" cy="164592"/>
          </a:xfrm>
          <a:prstGeom prst="rect">
            <a:avLst/>
          </a:prstGeom>
          <a:noFill/>
          <a:ln>
            <a:noFill/>
          </a:ln>
        </p:spPr>
        <p:txBody>
          <a:bodyPr wrap="square" lIns="73152" rIns="73152" tIns="36576" bIns="36576" anchor="t">
            <a:spAutoFit/>
          </a:bodyPr>
          <a:lstStyle/>
          <a:p>
            <a:pPr algn="l"/>
            <a:r>
              <a:rPr sz="950" b="1">
                <a:solidFill>
                  <a:srgbClr val="FFFFFF"/>
                </a:solidFill>
                <a:latin typeface="Microsoft YaHei"/>
              </a:rPr>
              <a:t>核心判断</a:t>
            </a:r>
          </a:p>
        </p:txBody>
      </p:sp>
      <p:sp>
        <p:nvSpPr>
          <p:cNvPr id="21" name="TextBox 20"/>
          <p:cNvSpPr txBox="1"/>
          <p:nvPr/>
        </p:nvSpPr>
        <p:spPr>
          <a:xfrm>
            <a:off x="7799832" y="2167128"/>
            <a:ext cx="3575304" cy="3538728"/>
          </a:xfrm>
          <a:prstGeom prst="rect">
            <a:avLst/>
          </a:prstGeom>
          <a:noFill/>
        </p:spPr>
        <p:txBody>
          <a:bodyPr wrap="square" lIns="0" rIns="0" tIns="0" bIns="0">
            <a:spAutoFit/>
          </a:bodyPr>
          <a:lstStyle/>
          <a:p>
            <a:pPr>
              <a:spcAft>
                <a:spcPts val="1100"/>
              </a:spcAft>
            </a:pPr>
            <a:r>
              <a:rPr sz="880" b="1">
                <a:solidFill>
                  <a:srgbClr val="B88A44"/>
                </a:solidFill>
                <a:latin typeface="Microsoft YaHei"/>
              </a:rPr>
              <a:t>1. </a:t>
            </a:r>
            <a:r>
              <a:rPr sz="880" b="0">
                <a:solidFill>
                  <a:srgbClr val="1F2933"/>
                </a:solidFill>
                <a:latin typeface="Microsoft YaHei"/>
              </a:rPr>
              <a:t>财政收入修复并非线性扩张，税基质量和房地产链条回暖仍决定后续弹性。</a:t>
            </a:r>
          </a:p>
          <a:p>
            <a:pPr>
              <a:spcAft>
                <a:spcPts val="1100"/>
              </a:spcAft>
            </a:pPr>
            <a:r>
              <a:rPr sz="880" b="1">
                <a:solidFill>
                  <a:srgbClr val="B88A44"/>
                </a:solidFill>
                <a:latin typeface="Microsoft YaHei"/>
              </a:rPr>
              <a:t>2. </a:t>
            </a:r>
            <a:r>
              <a:rPr sz="880" b="0">
                <a:solidFill>
                  <a:srgbClr val="1F2933"/>
                </a:solidFill>
                <a:latin typeface="Microsoft YaHei"/>
              </a:rPr>
              <a:t>税收收入占比维持高位，说明非税收入拉动空间有限，应关注税源真实性。</a:t>
            </a:r>
          </a:p>
          <a:p>
            <a:pPr>
              <a:spcAft>
                <a:spcPts val="1100"/>
              </a:spcAft>
            </a:pPr>
            <a:r>
              <a:rPr sz="880" b="1">
                <a:solidFill>
                  <a:srgbClr val="B88A44"/>
                </a:solidFill>
                <a:latin typeface="Microsoft YaHei"/>
              </a:rPr>
              <a:t>3. </a:t>
            </a:r>
            <a:r>
              <a:rPr sz="880" b="0">
                <a:solidFill>
                  <a:srgbClr val="1F2933"/>
                </a:solidFill>
                <a:latin typeface="Microsoft YaHei"/>
              </a:rPr>
              <a:t>若预算收入增速明显高于经济增速，应回查一次性收入、非税缴库和跨期调节。</a:t>
            </a:r>
          </a:p>
        </p:txBody>
      </p:sp>
      <p:sp>
        <p:nvSpPr>
          <p:cNvPr id="22" name="TextBox 21"/>
          <p:cNvSpPr txBox="1"/>
          <p:nvPr/>
        </p:nvSpPr>
        <p:spPr>
          <a:xfrm>
            <a:off x="347472" y="6473952"/>
            <a:ext cx="5303520" cy="146304"/>
          </a:xfrm>
          <a:prstGeom prst="rect">
            <a:avLst/>
          </a:prstGeom>
          <a:noFill/>
          <a:ln>
            <a:noFill/>
          </a:ln>
        </p:spPr>
        <p:txBody>
          <a:bodyPr wrap="square" lIns="73152" rIns="73152" tIns="36576" bIns="36576" anchor="t">
            <a:spAutoFit/>
          </a:bodyPr>
          <a:lstStyle/>
          <a:p>
            <a:pPr algn="l"/>
            <a:r>
              <a:rPr sz="720" b="0">
                <a:solidFill>
                  <a:srgbClr val="8793A0"/>
                </a:solidFill>
                <a:latin typeface="Microsoft YaHei"/>
              </a:rPr>
              <a:t>资料来源：财政部，Wind，融策会计师事务所整理</a:t>
            </a:r>
          </a:p>
        </p:txBody>
      </p:sp>
      <p:sp>
        <p:nvSpPr>
          <p:cNvPr id="23" name="TextBox 22"/>
          <p:cNvSpPr txBox="1"/>
          <p:nvPr/>
        </p:nvSpPr>
        <p:spPr>
          <a:xfrm>
            <a:off x="9875520" y="6473952"/>
            <a:ext cx="1920240" cy="146304"/>
          </a:xfrm>
          <a:prstGeom prst="rect">
            <a:avLst/>
          </a:prstGeom>
          <a:noFill/>
          <a:ln>
            <a:noFill/>
          </a:ln>
        </p:spPr>
        <p:txBody>
          <a:bodyPr wrap="square" lIns="73152" rIns="73152" tIns="36576" bIns="36576" anchor="t">
            <a:spAutoFit/>
          </a:bodyPr>
          <a:lstStyle/>
          <a:p>
            <a:pPr algn="r"/>
            <a:r>
              <a:rPr sz="720" b="0">
                <a:solidFill>
                  <a:srgbClr val="8793A0"/>
                </a:solidFill>
                <a:latin typeface="Microsoft YaHei"/>
              </a:rPr>
              <a:t>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475488"/>
          </a:xfrm>
          <a:prstGeom prst="rect">
            <a:avLst/>
          </a:prstGeom>
          <a:solidFill>
            <a:srgbClr val="061A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75488"/>
            <a:ext cx="12191695" cy="54864"/>
          </a:xfrm>
          <a:prstGeom prst="rect">
            <a:avLst/>
          </a:prstGeom>
          <a:solidFill>
            <a:srgbClr val="B88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47472" y="73152"/>
            <a:ext cx="2377440" cy="146304"/>
          </a:xfrm>
          <a:prstGeom prst="rect">
            <a:avLst/>
          </a:prstGeom>
          <a:noFill/>
          <a:ln>
            <a:noFill/>
          </a:ln>
        </p:spPr>
        <p:txBody>
          <a:bodyPr wrap="square" lIns="73152" rIns="73152" tIns="36576" bIns="36576" anchor="t">
            <a:spAutoFit/>
          </a:bodyPr>
          <a:lstStyle/>
          <a:p>
            <a:pPr algn="l"/>
            <a:r>
              <a:rPr sz="800" b="1">
                <a:solidFill>
                  <a:srgbClr val="D6B071"/>
                </a:solidFill>
                <a:latin typeface="Microsoft YaHei"/>
              </a:rPr>
              <a:t>数据表格</a:t>
            </a:r>
          </a:p>
        </p:txBody>
      </p:sp>
      <p:sp>
        <p:nvSpPr>
          <p:cNvPr id="5" name="TextBox 4"/>
          <p:cNvSpPr txBox="1"/>
          <p:nvPr/>
        </p:nvSpPr>
        <p:spPr>
          <a:xfrm>
            <a:off x="347472" y="228600"/>
            <a:ext cx="7498079" cy="201168"/>
          </a:xfrm>
          <a:prstGeom prst="rect">
            <a:avLst/>
          </a:prstGeom>
          <a:noFill/>
          <a:ln>
            <a:noFill/>
          </a:ln>
        </p:spPr>
        <p:txBody>
          <a:bodyPr wrap="square" lIns="73152" rIns="73152" tIns="36576" bIns="36576" anchor="t">
            <a:spAutoFit/>
          </a:bodyPr>
          <a:lstStyle/>
          <a:p>
            <a:pPr algn="l"/>
            <a:r>
              <a:rPr sz="1400" b="1">
                <a:solidFill>
                  <a:srgbClr val="FFFFFF"/>
                </a:solidFill>
                <a:latin typeface="Microsoft YaHei"/>
              </a:rPr>
              <a:t>项目结构决定审计资源配置</a:t>
            </a:r>
          </a:p>
        </p:txBody>
      </p:sp>
      <p:sp>
        <p:nvSpPr>
          <p:cNvPr id="6" name="TextBox 5"/>
          <p:cNvSpPr txBox="1"/>
          <p:nvPr/>
        </p:nvSpPr>
        <p:spPr>
          <a:xfrm>
            <a:off x="8686800" y="210312"/>
            <a:ext cx="3108960" cy="201168"/>
          </a:xfrm>
          <a:prstGeom prst="rect">
            <a:avLst/>
          </a:prstGeom>
          <a:noFill/>
          <a:ln>
            <a:noFill/>
          </a:ln>
        </p:spPr>
        <p:txBody>
          <a:bodyPr wrap="square" lIns="73152" rIns="73152" tIns="36576" bIns="36576" anchor="t">
            <a:spAutoFit/>
          </a:bodyPr>
          <a:lstStyle/>
          <a:p>
            <a:pPr algn="r"/>
            <a:r>
              <a:rPr sz="850" b="0">
                <a:solidFill>
                  <a:srgbClr val="C9D2DC"/>
                </a:solidFill>
                <a:latin typeface="Microsoft YaHei"/>
              </a:rPr>
              <a:t>融策·审盾研究</a:t>
            </a:r>
          </a:p>
        </p:txBody>
      </p:sp>
      <p:sp>
        <p:nvSpPr>
          <p:cNvPr id="7" name="TextBox 6"/>
          <p:cNvSpPr txBox="1"/>
          <p:nvPr/>
        </p:nvSpPr>
        <p:spPr>
          <a:xfrm>
            <a:off x="502920" y="868680"/>
            <a:ext cx="6766560" cy="347472"/>
          </a:xfrm>
          <a:prstGeom prst="rect">
            <a:avLst/>
          </a:prstGeom>
          <a:noFill/>
          <a:ln>
            <a:noFill/>
          </a:ln>
        </p:spPr>
        <p:txBody>
          <a:bodyPr wrap="square" lIns="73152" rIns="73152" tIns="36576" bIns="36576" anchor="t">
            <a:spAutoFit/>
          </a:bodyPr>
          <a:lstStyle/>
          <a:p>
            <a:pPr algn="l"/>
            <a:r>
              <a:rPr sz="1400" b="1">
                <a:solidFill>
                  <a:srgbClr val="061A33"/>
                </a:solidFill>
                <a:latin typeface="Microsoft YaHei"/>
              </a:rPr>
              <a:t>表1：不同业务线的模板化程度与AI复核适配度</a:t>
            </a:r>
          </a:p>
        </p:txBody>
      </p:sp>
      <p:graphicFrame>
        <p:nvGraphicFramePr>
          <p:cNvPr id="8" name="Table 7"/>
          <p:cNvGraphicFramePr>
            <a:graphicFrameLocks noGrp="1"/>
          </p:cNvGraphicFramePr>
          <p:nvPr/>
        </p:nvGraphicFramePr>
        <p:xfrm>
          <a:off x="502920" y="1417320"/>
          <a:ext cx="7086600" cy="3154680"/>
        </p:xfrm>
        <a:graphic>
          <a:graphicData uri="http://schemas.openxmlformats.org/drawingml/2006/table">
            <a:tbl>
              <a:tblPr firstRow="1" bandRow="1">
                <a:tableStyleId>{5C22544A-7EE6-4342-B048-85BDC9FD1C3A}</a:tableStyleId>
              </a:tblPr>
              <a:tblGrid>
                <a:gridCol w="1417320"/>
                <a:gridCol w="1417320"/>
                <a:gridCol w="1417320"/>
                <a:gridCol w="1417320"/>
                <a:gridCol w="1417320"/>
              </a:tblGrid>
              <a:tr h="525780">
                <a:tc>
                  <a:txBody>
                    <a:bodyPr/>
                    <a:lstStyle/>
                    <a:p>
                      <a:r>
                        <a:rPr sz="850" b="1">
                          <a:solidFill>
                            <a:srgbClr val="FFFFFF"/>
                          </a:solidFill>
                          <a:latin typeface="Microsoft YaHei"/>
                        </a:rPr>
                        <a:t>业务线</a:t>
                      </a:r>
                    </a:p>
                  </a:txBody>
                  <a:tcPr>
                    <a:solidFill>
                      <a:srgbClr val="061A33"/>
                    </a:solidFill>
                  </a:tcPr>
                </a:tc>
                <a:tc>
                  <a:txBody>
                    <a:bodyPr/>
                    <a:lstStyle/>
                    <a:p>
                      <a:r>
                        <a:rPr sz="850" b="1">
                          <a:solidFill>
                            <a:srgbClr val="FFFFFF"/>
                          </a:solidFill>
                          <a:latin typeface="Microsoft YaHei"/>
                        </a:rPr>
                        <a:t>数据结构化</a:t>
                      </a:r>
                    </a:p>
                  </a:txBody>
                  <a:tcPr>
                    <a:solidFill>
                      <a:srgbClr val="061A33"/>
                    </a:solidFill>
                  </a:tcPr>
                </a:tc>
                <a:tc>
                  <a:txBody>
                    <a:bodyPr/>
                    <a:lstStyle/>
                    <a:p>
                      <a:r>
                        <a:rPr sz="850" b="1">
                          <a:solidFill>
                            <a:srgbClr val="FFFFFF"/>
                          </a:solidFill>
                          <a:latin typeface="Microsoft YaHei"/>
                        </a:rPr>
                        <a:t>报告标准化</a:t>
                      </a:r>
                    </a:p>
                  </a:txBody>
                  <a:tcPr>
                    <a:solidFill>
                      <a:srgbClr val="061A33"/>
                    </a:solidFill>
                  </a:tcPr>
                </a:tc>
                <a:tc>
                  <a:txBody>
                    <a:bodyPr/>
                    <a:lstStyle/>
                    <a:p>
                      <a:r>
                        <a:rPr sz="850" b="1">
                          <a:solidFill>
                            <a:srgbClr val="FFFFFF"/>
                          </a:solidFill>
                          <a:latin typeface="Microsoft YaHei"/>
                        </a:rPr>
                        <a:t>AI适配度</a:t>
                      </a:r>
                    </a:p>
                  </a:txBody>
                  <a:tcPr>
                    <a:solidFill>
                      <a:srgbClr val="061A33"/>
                    </a:solidFill>
                  </a:tcPr>
                </a:tc>
                <a:tc>
                  <a:txBody>
                    <a:bodyPr/>
                    <a:lstStyle/>
                    <a:p>
                      <a:r>
                        <a:rPr sz="850" b="1">
                          <a:solidFill>
                            <a:srgbClr val="FFFFFF"/>
                          </a:solidFill>
                          <a:latin typeface="Microsoft YaHei"/>
                        </a:rPr>
                        <a:t>优先级</a:t>
                      </a:r>
                    </a:p>
                  </a:txBody>
                  <a:tcPr>
                    <a:solidFill>
                      <a:srgbClr val="061A33"/>
                    </a:solidFill>
                  </a:tcPr>
                </a:tc>
              </a:tr>
              <a:tr h="525780">
                <a:tc>
                  <a:txBody>
                    <a:bodyPr/>
                    <a:lstStyle/>
                    <a:p>
                      <a:pPr algn="ctr"/>
                      <a:r>
                        <a:rPr sz="850" b="0">
                          <a:solidFill>
                            <a:srgbClr val="1F2933"/>
                          </a:solidFill>
                          <a:latin typeface="Microsoft YaHei"/>
                        </a:rPr>
                        <a:t>绩效评价</a:t>
                      </a:r>
                    </a:p>
                  </a:txBody>
                  <a:tcPr>
                    <a:solidFill>
                      <a:srgbClr val="FFFFFF"/>
                    </a:solidFill>
                  </a:tcPr>
                </a:tc>
                <a:tc>
                  <a:txBody>
                    <a:bodyPr/>
                    <a:lstStyle/>
                    <a:p>
                      <a:pPr algn="ctr"/>
                      <a:r>
                        <a:rPr sz="850" b="0">
                          <a:solidFill>
                            <a:srgbClr val="1F2933"/>
                          </a:solidFill>
                          <a:latin typeface="Microsoft YaHei"/>
                        </a:rPr>
                        <a:t>中</a:t>
                      </a:r>
                    </a:p>
                  </a:txBody>
                  <a:tcPr>
                    <a:solidFill>
                      <a:srgbClr val="FFFFFF"/>
                    </a:solidFill>
                  </a:tcPr>
                </a:tc>
                <a:tc>
                  <a:txBody>
                    <a:bodyPr/>
                    <a:lstStyle/>
                    <a:p>
                      <a:pPr algn="ctr"/>
                      <a:r>
                        <a:rPr sz="850" b="0">
                          <a:solidFill>
                            <a:srgbClr val="1F2933"/>
                          </a:solidFill>
                          <a:latin typeface="Microsoft YaHei"/>
                        </a:rPr>
                        <a:t>高</a:t>
                      </a:r>
                    </a:p>
                  </a:txBody>
                  <a:tcPr>
                    <a:solidFill>
                      <a:srgbClr val="FFFFFF"/>
                    </a:solidFill>
                  </a:tcPr>
                </a:tc>
                <a:tc>
                  <a:txBody>
                    <a:bodyPr/>
                    <a:lstStyle/>
                    <a:p>
                      <a:pPr algn="ctr"/>
                      <a:r>
                        <a:rPr sz="850" b="0">
                          <a:solidFill>
                            <a:srgbClr val="1F2933"/>
                          </a:solidFill>
                          <a:latin typeface="Microsoft YaHei"/>
                        </a:rPr>
                        <a:t>高</a:t>
                      </a:r>
                    </a:p>
                  </a:txBody>
                  <a:tcPr>
                    <a:solidFill>
                      <a:srgbClr val="FFFFFF"/>
                    </a:solidFill>
                  </a:tcPr>
                </a:tc>
                <a:tc>
                  <a:txBody>
                    <a:bodyPr/>
                    <a:lstStyle/>
                    <a:p>
                      <a:pPr algn="ctr"/>
                      <a:r>
                        <a:rPr sz="850" b="0">
                          <a:solidFill>
                            <a:srgbClr val="1F2933"/>
                          </a:solidFill>
                          <a:latin typeface="Microsoft YaHei"/>
                        </a:rPr>
                        <a:t>P0</a:t>
                      </a:r>
                    </a:p>
                  </a:txBody>
                  <a:tcPr>
                    <a:solidFill>
                      <a:srgbClr val="FFFFFF"/>
                    </a:solidFill>
                  </a:tcPr>
                </a:tc>
              </a:tr>
              <a:tr h="525780">
                <a:tc>
                  <a:txBody>
                    <a:bodyPr/>
                    <a:lstStyle/>
                    <a:p>
                      <a:pPr algn="ctr"/>
                      <a:r>
                        <a:rPr sz="850" b="0">
                          <a:solidFill>
                            <a:srgbClr val="1F2933"/>
                          </a:solidFill>
                          <a:latin typeface="Microsoft YaHei"/>
                        </a:rPr>
                        <a:t>工程决算</a:t>
                      </a:r>
                    </a:p>
                  </a:txBody>
                  <a:tcPr>
                    <a:solidFill>
                      <a:srgbClr val="F4F6F8"/>
                    </a:solidFill>
                  </a:tcPr>
                </a:tc>
                <a:tc>
                  <a:txBody>
                    <a:bodyPr/>
                    <a:lstStyle/>
                    <a:p>
                      <a:pPr algn="ctr"/>
                      <a:r>
                        <a:rPr sz="850" b="0">
                          <a:solidFill>
                            <a:srgbClr val="1F2933"/>
                          </a:solidFill>
                          <a:latin typeface="Microsoft YaHei"/>
                        </a:rPr>
                        <a:t>高</a:t>
                      </a:r>
                    </a:p>
                  </a:txBody>
                  <a:tcPr>
                    <a:solidFill>
                      <a:srgbClr val="F4F6F8"/>
                    </a:solidFill>
                  </a:tcPr>
                </a:tc>
                <a:tc>
                  <a:txBody>
                    <a:bodyPr/>
                    <a:lstStyle/>
                    <a:p>
                      <a:pPr algn="ctr"/>
                      <a:r>
                        <a:rPr sz="850" b="0">
                          <a:solidFill>
                            <a:srgbClr val="1F2933"/>
                          </a:solidFill>
                          <a:latin typeface="Microsoft YaHei"/>
                        </a:rPr>
                        <a:t>中</a:t>
                      </a:r>
                    </a:p>
                  </a:txBody>
                  <a:tcPr>
                    <a:solidFill>
                      <a:srgbClr val="F4F6F8"/>
                    </a:solidFill>
                  </a:tcPr>
                </a:tc>
                <a:tc>
                  <a:txBody>
                    <a:bodyPr/>
                    <a:lstStyle/>
                    <a:p>
                      <a:pPr algn="ctr"/>
                      <a:r>
                        <a:rPr sz="850" b="0">
                          <a:solidFill>
                            <a:srgbClr val="1F2933"/>
                          </a:solidFill>
                          <a:latin typeface="Microsoft YaHei"/>
                        </a:rPr>
                        <a:t>高</a:t>
                      </a:r>
                    </a:p>
                  </a:txBody>
                  <a:tcPr>
                    <a:solidFill>
                      <a:srgbClr val="F4F6F8"/>
                    </a:solidFill>
                  </a:tcPr>
                </a:tc>
                <a:tc>
                  <a:txBody>
                    <a:bodyPr/>
                    <a:lstStyle/>
                    <a:p>
                      <a:pPr algn="ctr"/>
                      <a:r>
                        <a:rPr sz="850" b="0">
                          <a:solidFill>
                            <a:srgbClr val="1F2933"/>
                          </a:solidFill>
                          <a:latin typeface="Microsoft YaHei"/>
                        </a:rPr>
                        <a:t>P0</a:t>
                      </a:r>
                    </a:p>
                  </a:txBody>
                  <a:tcPr>
                    <a:solidFill>
                      <a:srgbClr val="F4F6F8"/>
                    </a:solidFill>
                  </a:tcPr>
                </a:tc>
              </a:tr>
              <a:tr h="525780">
                <a:tc>
                  <a:txBody>
                    <a:bodyPr/>
                    <a:lstStyle/>
                    <a:p>
                      <a:pPr algn="ctr"/>
                      <a:r>
                        <a:rPr sz="850" b="0">
                          <a:solidFill>
                            <a:srgbClr val="1F2933"/>
                          </a:solidFill>
                          <a:latin typeface="Microsoft YaHei"/>
                        </a:rPr>
                        <a:t>经责审计</a:t>
                      </a:r>
                    </a:p>
                  </a:txBody>
                  <a:tcPr>
                    <a:solidFill>
                      <a:srgbClr val="FFFFFF"/>
                    </a:solidFill>
                  </a:tcPr>
                </a:tc>
                <a:tc>
                  <a:txBody>
                    <a:bodyPr/>
                    <a:lstStyle/>
                    <a:p>
                      <a:pPr algn="ctr"/>
                      <a:r>
                        <a:rPr sz="850" b="0">
                          <a:solidFill>
                            <a:srgbClr val="1F2933"/>
                          </a:solidFill>
                          <a:latin typeface="Microsoft YaHei"/>
                        </a:rPr>
                        <a:t>中</a:t>
                      </a:r>
                    </a:p>
                  </a:txBody>
                  <a:tcPr>
                    <a:solidFill>
                      <a:srgbClr val="FFFFFF"/>
                    </a:solidFill>
                  </a:tcPr>
                </a:tc>
                <a:tc>
                  <a:txBody>
                    <a:bodyPr/>
                    <a:lstStyle/>
                    <a:p>
                      <a:pPr algn="ctr"/>
                      <a:r>
                        <a:rPr sz="850" b="0">
                          <a:solidFill>
                            <a:srgbClr val="1F2933"/>
                          </a:solidFill>
                          <a:latin typeface="Microsoft YaHei"/>
                        </a:rPr>
                        <a:t>中</a:t>
                      </a:r>
                    </a:p>
                  </a:txBody>
                  <a:tcPr>
                    <a:solidFill>
                      <a:srgbClr val="FFFFFF"/>
                    </a:solidFill>
                  </a:tcPr>
                </a:tc>
                <a:tc>
                  <a:txBody>
                    <a:bodyPr/>
                    <a:lstStyle/>
                    <a:p>
                      <a:pPr algn="ctr"/>
                      <a:r>
                        <a:rPr sz="850" b="0">
                          <a:solidFill>
                            <a:srgbClr val="1F2933"/>
                          </a:solidFill>
                          <a:latin typeface="Microsoft YaHei"/>
                        </a:rPr>
                        <a:t>中高</a:t>
                      </a:r>
                    </a:p>
                  </a:txBody>
                  <a:tcPr>
                    <a:solidFill>
                      <a:srgbClr val="FFFFFF"/>
                    </a:solidFill>
                  </a:tcPr>
                </a:tc>
                <a:tc>
                  <a:txBody>
                    <a:bodyPr/>
                    <a:lstStyle/>
                    <a:p>
                      <a:pPr algn="ctr"/>
                      <a:r>
                        <a:rPr sz="850" b="0">
                          <a:solidFill>
                            <a:srgbClr val="1F2933"/>
                          </a:solidFill>
                          <a:latin typeface="Microsoft YaHei"/>
                        </a:rPr>
                        <a:t>P1</a:t>
                      </a:r>
                    </a:p>
                  </a:txBody>
                  <a:tcPr>
                    <a:solidFill>
                      <a:srgbClr val="FFFFFF"/>
                    </a:solidFill>
                  </a:tcPr>
                </a:tc>
              </a:tr>
              <a:tr h="525780">
                <a:tc>
                  <a:txBody>
                    <a:bodyPr/>
                    <a:lstStyle/>
                    <a:p>
                      <a:pPr algn="ctr"/>
                      <a:r>
                        <a:rPr sz="850" b="0">
                          <a:solidFill>
                            <a:srgbClr val="1F2933"/>
                          </a:solidFill>
                          <a:latin typeface="Microsoft YaHei"/>
                        </a:rPr>
                        <a:t>专项资金</a:t>
                      </a:r>
                    </a:p>
                  </a:txBody>
                  <a:tcPr>
                    <a:solidFill>
                      <a:srgbClr val="F4F6F8"/>
                    </a:solidFill>
                  </a:tcPr>
                </a:tc>
                <a:tc>
                  <a:txBody>
                    <a:bodyPr/>
                    <a:lstStyle/>
                    <a:p>
                      <a:pPr algn="ctr"/>
                      <a:r>
                        <a:rPr sz="850" b="0">
                          <a:solidFill>
                            <a:srgbClr val="1F2933"/>
                          </a:solidFill>
                          <a:latin typeface="Microsoft YaHei"/>
                        </a:rPr>
                        <a:t>中高</a:t>
                      </a:r>
                    </a:p>
                  </a:txBody>
                  <a:tcPr>
                    <a:solidFill>
                      <a:srgbClr val="F4F6F8"/>
                    </a:solidFill>
                  </a:tcPr>
                </a:tc>
                <a:tc>
                  <a:txBody>
                    <a:bodyPr/>
                    <a:lstStyle/>
                    <a:p>
                      <a:pPr algn="ctr"/>
                      <a:r>
                        <a:rPr sz="850" b="0">
                          <a:solidFill>
                            <a:srgbClr val="1F2933"/>
                          </a:solidFill>
                          <a:latin typeface="Microsoft YaHei"/>
                        </a:rPr>
                        <a:t>中</a:t>
                      </a:r>
                    </a:p>
                  </a:txBody>
                  <a:tcPr>
                    <a:solidFill>
                      <a:srgbClr val="F4F6F8"/>
                    </a:solidFill>
                  </a:tcPr>
                </a:tc>
                <a:tc>
                  <a:txBody>
                    <a:bodyPr/>
                    <a:lstStyle/>
                    <a:p>
                      <a:pPr algn="ctr"/>
                      <a:r>
                        <a:rPr sz="850" b="0">
                          <a:solidFill>
                            <a:srgbClr val="1F2933"/>
                          </a:solidFill>
                          <a:latin typeface="Microsoft YaHei"/>
                        </a:rPr>
                        <a:t>高</a:t>
                      </a:r>
                    </a:p>
                  </a:txBody>
                  <a:tcPr>
                    <a:solidFill>
                      <a:srgbClr val="F4F6F8"/>
                    </a:solidFill>
                  </a:tcPr>
                </a:tc>
                <a:tc>
                  <a:txBody>
                    <a:bodyPr/>
                    <a:lstStyle/>
                    <a:p>
                      <a:pPr algn="ctr"/>
                      <a:r>
                        <a:rPr sz="850" b="0">
                          <a:solidFill>
                            <a:srgbClr val="1F2933"/>
                          </a:solidFill>
                          <a:latin typeface="Microsoft YaHei"/>
                        </a:rPr>
                        <a:t>P1</a:t>
                      </a:r>
                    </a:p>
                  </a:txBody>
                  <a:tcPr>
                    <a:solidFill>
                      <a:srgbClr val="F4F6F8"/>
                    </a:solidFill>
                  </a:tcPr>
                </a:tc>
              </a:tr>
              <a:tr h="525780">
                <a:tc>
                  <a:txBody>
                    <a:bodyPr/>
                    <a:lstStyle/>
                    <a:p>
                      <a:pPr algn="ctr"/>
                      <a:r>
                        <a:rPr sz="850" b="0">
                          <a:solidFill>
                            <a:srgbClr val="1F2933"/>
                          </a:solidFill>
                          <a:latin typeface="Microsoft YaHei"/>
                        </a:rPr>
                        <a:t>资产清查</a:t>
                      </a:r>
                    </a:p>
                  </a:txBody>
                  <a:tcPr>
                    <a:solidFill>
                      <a:srgbClr val="FFFFFF"/>
                    </a:solidFill>
                  </a:tcPr>
                </a:tc>
                <a:tc>
                  <a:txBody>
                    <a:bodyPr/>
                    <a:lstStyle/>
                    <a:p>
                      <a:pPr algn="ctr"/>
                      <a:r>
                        <a:rPr sz="850" b="0">
                          <a:solidFill>
                            <a:srgbClr val="1F2933"/>
                          </a:solidFill>
                          <a:latin typeface="Microsoft YaHei"/>
                        </a:rPr>
                        <a:t>高</a:t>
                      </a:r>
                    </a:p>
                  </a:txBody>
                  <a:tcPr>
                    <a:solidFill>
                      <a:srgbClr val="FFFFFF"/>
                    </a:solidFill>
                  </a:tcPr>
                </a:tc>
                <a:tc>
                  <a:txBody>
                    <a:bodyPr/>
                    <a:lstStyle/>
                    <a:p>
                      <a:pPr algn="ctr"/>
                      <a:r>
                        <a:rPr sz="850" b="0">
                          <a:solidFill>
                            <a:srgbClr val="1F2933"/>
                          </a:solidFill>
                          <a:latin typeface="Microsoft YaHei"/>
                        </a:rPr>
                        <a:t>高</a:t>
                      </a:r>
                    </a:p>
                  </a:txBody>
                  <a:tcPr>
                    <a:solidFill>
                      <a:srgbClr val="FFFFFF"/>
                    </a:solidFill>
                  </a:tcPr>
                </a:tc>
                <a:tc>
                  <a:txBody>
                    <a:bodyPr/>
                    <a:lstStyle/>
                    <a:p>
                      <a:pPr algn="ctr"/>
                      <a:r>
                        <a:rPr sz="850" b="0">
                          <a:solidFill>
                            <a:srgbClr val="1F2933"/>
                          </a:solidFill>
                          <a:latin typeface="Microsoft YaHei"/>
                        </a:rPr>
                        <a:t>中</a:t>
                      </a:r>
                    </a:p>
                  </a:txBody>
                  <a:tcPr>
                    <a:solidFill>
                      <a:srgbClr val="FFFFFF"/>
                    </a:solidFill>
                  </a:tcPr>
                </a:tc>
                <a:tc>
                  <a:txBody>
                    <a:bodyPr/>
                    <a:lstStyle/>
                    <a:p>
                      <a:pPr algn="ctr"/>
                      <a:r>
                        <a:rPr sz="850" b="0">
                          <a:solidFill>
                            <a:srgbClr val="1F2933"/>
                          </a:solidFill>
                          <a:latin typeface="Microsoft YaHei"/>
                        </a:rPr>
                        <a:t>P2</a:t>
                      </a:r>
                    </a:p>
                  </a:txBody>
                  <a:tcPr>
                    <a:solidFill>
                      <a:srgbClr val="FFFFFF"/>
                    </a:solidFill>
                  </a:tcPr>
                </a:tc>
              </a:tr>
            </a:tbl>
          </a:graphicData>
        </a:graphic>
      </p:graphicFrame>
      <p:sp>
        <p:nvSpPr>
          <p:cNvPr id="9" name="Rounded Rectangle 8"/>
          <p:cNvSpPr/>
          <p:nvPr/>
        </p:nvSpPr>
        <p:spPr>
          <a:xfrm>
            <a:off x="7909560" y="1417320"/>
            <a:ext cx="3520440" cy="3154680"/>
          </a:xfrm>
          <a:prstGeom prst="roundRect">
            <a:avLst/>
          </a:prstGeom>
          <a:solidFill>
            <a:srgbClr val="FAFBFC"/>
          </a:solidFill>
          <a:ln w="9525">
            <a:solidFill>
              <a:srgbClr val="D9DE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909560" y="1417320"/>
            <a:ext cx="3520440" cy="347472"/>
          </a:xfrm>
          <a:prstGeom prst="rect">
            <a:avLst/>
          </a:prstGeom>
          <a:solidFill>
            <a:srgbClr val="0A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037576" y="1490472"/>
            <a:ext cx="3291840" cy="164592"/>
          </a:xfrm>
          <a:prstGeom prst="rect">
            <a:avLst/>
          </a:prstGeom>
          <a:noFill/>
          <a:ln>
            <a:noFill/>
          </a:ln>
        </p:spPr>
        <p:txBody>
          <a:bodyPr wrap="square" lIns="73152" rIns="73152" tIns="36576" bIns="36576" anchor="t">
            <a:spAutoFit/>
          </a:bodyPr>
          <a:lstStyle/>
          <a:p>
            <a:pPr algn="l"/>
            <a:r>
              <a:rPr sz="950" b="1">
                <a:solidFill>
                  <a:srgbClr val="FFFFFF"/>
                </a:solidFill>
                <a:latin typeface="Microsoft YaHei"/>
              </a:rPr>
              <a:t>解读</a:t>
            </a:r>
          </a:p>
        </p:txBody>
      </p:sp>
      <p:sp>
        <p:nvSpPr>
          <p:cNvPr id="12" name="TextBox 11"/>
          <p:cNvSpPr txBox="1"/>
          <p:nvPr/>
        </p:nvSpPr>
        <p:spPr>
          <a:xfrm>
            <a:off x="8074152" y="1920240"/>
            <a:ext cx="3209544" cy="2532888"/>
          </a:xfrm>
          <a:prstGeom prst="rect">
            <a:avLst/>
          </a:prstGeom>
          <a:noFill/>
        </p:spPr>
        <p:txBody>
          <a:bodyPr wrap="square" lIns="0" rIns="0" tIns="0" bIns="0">
            <a:spAutoFit/>
          </a:bodyPr>
          <a:lstStyle/>
          <a:p>
            <a:pPr>
              <a:spcAft>
                <a:spcPts val="1100"/>
              </a:spcAft>
            </a:pPr>
            <a:r>
              <a:rPr sz="880" b="1">
                <a:solidFill>
                  <a:srgbClr val="B88A44"/>
                </a:solidFill>
                <a:latin typeface="Microsoft YaHei"/>
              </a:rPr>
              <a:t>1. </a:t>
            </a:r>
            <a:r>
              <a:rPr sz="880" b="0">
                <a:solidFill>
                  <a:srgbClr val="1F2933"/>
                </a:solidFill>
                <a:latin typeface="Microsoft YaHei"/>
              </a:rPr>
              <a:t>优先从标准化程度高、复核规则清晰的业务线切入。</a:t>
            </a:r>
          </a:p>
          <a:p>
            <a:pPr>
              <a:spcAft>
                <a:spcPts val="1100"/>
              </a:spcAft>
            </a:pPr>
            <a:r>
              <a:rPr sz="880" b="1">
                <a:solidFill>
                  <a:srgbClr val="B88A44"/>
                </a:solidFill>
                <a:latin typeface="Microsoft YaHei"/>
              </a:rPr>
              <a:t>2. </a:t>
            </a:r>
            <a:r>
              <a:rPr sz="880" b="0">
                <a:solidFill>
                  <a:srgbClr val="1F2933"/>
                </a:solidFill>
                <a:latin typeface="Microsoft YaHei"/>
              </a:rPr>
              <a:t>模板不是装饰，而是把数据口径和报告口径固化。</a:t>
            </a:r>
          </a:p>
          <a:p>
            <a:pPr>
              <a:spcAft>
                <a:spcPts val="1100"/>
              </a:spcAft>
            </a:pPr>
            <a:r>
              <a:rPr sz="880" b="1">
                <a:solidFill>
                  <a:srgbClr val="B88A44"/>
                </a:solidFill>
                <a:latin typeface="Microsoft YaHei"/>
              </a:rPr>
              <a:t>3. </a:t>
            </a:r>
            <a:r>
              <a:rPr sz="880" b="0">
                <a:solidFill>
                  <a:srgbClr val="1F2933"/>
                </a:solidFill>
                <a:latin typeface="Microsoft YaHei"/>
              </a:rPr>
              <a:t>每类业务线应沉淀一套图表库和一套风险判断句库。</a:t>
            </a:r>
          </a:p>
        </p:txBody>
      </p:sp>
      <p:sp>
        <p:nvSpPr>
          <p:cNvPr id="13" name="TextBox 12"/>
          <p:cNvSpPr txBox="1"/>
          <p:nvPr/>
        </p:nvSpPr>
        <p:spPr>
          <a:xfrm>
            <a:off x="347472" y="6473952"/>
            <a:ext cx="5303520" cy="146304"/>
          </a:xfrm>
          <a:prstGeom prst="rect">
            <a:avLst/>
          </a:prstGeom>
          <a:noFill/>
          <a:ln>
            <a:noFill/>
          </a:ln>
        </p:spPr>
        <p:txBody>
          <a:bodyPr wrap="square" lIns="73152" rIns="73152" tIns="36576" bIns="36576" anchor="t">
            <a:spAutoFit/>
          </a:bodyPr>
          <a:lstStyle/>
          <a:p>
            <a:pPr algn="l"/>
            <a:r>
              <a:rPr sz="720" b="0">
                <a:solidFill>
                  <a:srgbClr val="8793A0"/>
                </a:solidFill>
                <a:latin typeface="Microsoft YaHei"/>
              </a:rPr>
              <a:t>资料来源：融策项目台账，内部复盘</a:t>
            </a:r>
          </a:p>
        </p:txBody>
      </p:sp>
      <p:sp>
        <p:nvSpPr>
          <p:cNvPr id="14" name="TextBox 13"/>
          <p:cNvSpPr txBox="1"/>
          <p:nvPr/>
        </p:nvSpPr>
        <p:spPr>
          <a:xfrm>
            <a:off x="9875520" y="6473952"/>
            <a:ext cx="1920240" cy="146304"/>
          </a:xfrm>
          <a:prstGeom prst="rect">
            <a:avLst/>
          </a:prstGeom>
          <a:noFill/>
          <a:ln>
            <a:noFill/>
          </a:ln>
        </p:spPr>
        <p:txBody>
          <a:bodyPr wrap="square" lIns="73152" rIns="73152" tIns="36576" bIns="36576" anchor="t">
            <a:spAutoFit/>
          </a:bodyPr>
          <a:lstStyle/>
          <a:p>
            <a:pPr algn="r"/>
            <a:r>
              <a:rPr sz="720" b="0">
                <a:solidFill>
                  <a:srgbClr val="8793A0"/>
                </a:solidFill>
                <a:latin typeface="Microsoft YaHei"/>
              </a:rPr>
              <a:t>06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475488"/>
          </a:xfrm>
          <a:prstGeom prst="rect">
            <a:avLst/>
          </a:prstGeom>
          <a:solidFill>
            <a:srgbClr val="061A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75488"/>
            <a:ext cx="12191695" cy="54864"/>
          </a:xfrm>
          <a:prstGeom prst="rect">
            <a:avLst/>
          </a:prstGeom>
          <a:solidFill>
            <a:srgbClr val="B88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47472" y="73152"/>
            <a:ext cx="2377440" cy="146304"/>
          </a:xfrm>
          <a:prstGeom prst="rect">
            <a:avLst/>
          </a:prstGeom>
          <a:noFill/>
          <a:ln>
            <a:noFill/>
          </a:ln>
        </p:spPr>
        <p:txBody>
          <a:bodyPr wrap="square" lIns="73152" rIns="73152" tIns="36576" bIns="36576" anchor="t">
            <a:spAutoFit/>
          </a:bodyPr>
          <a:lstStyle/>
          <a:p>
            <a:pPr algn="l"/>
            <a:r>
              <a:rPr sz="800" b="1">
                <a:solidFill>
                  <a:srgbClr val="D6B071"/>
                </a:solidFill>
                <a:latin typeface="Microsoft YaHei"/>
              </a:rPr>
              <a:t>方法论</a:t>
            </a:r>
          </a:p>
        </p:txBody>
      </p:sp>
      <p:sp>
        <p:nvSpPr>
          <p:cNvPr id="5" name="TextBox 4"/>
          <p:cNvSpPr txBox="1"/>
          <p:nvPr/>
        </p:nvSpPr>
        <p:spPr>
          <a:xfrm>
            <a:off x="347472" y="228600"/>
            <a:ext cx="7498079" cy="201168"/>
          </a:xfrm>
          <a:prstGeom prst="rect">
            <a:avLst/>
          </a:prstGeom>
          <a:noFill/>
          <a:ln>
            <a:noFill/>
          </a:ln>
        </p:spPr>
        <p:txBody>
          <a:bodyPr wrap="square" lIns="73152" rIns="73152" tIns="36576" bIns="36576" anchor="t">
            <a:spAutoFit/>
          </a:bodyPr>
          <a:lstStyle/>
          <a:p>
            <a:pPr algn="l"/>
            <a:r>
              <a:rPr sz="1400" b="1">
                <a:solidFill>
                  <a:srgbClr val="FFFFFF"/>
                </a:solidFill>
                <a:latin typeface="Microsoft YaHei"/>
              </a:rPr>
              <a:t>一页研报的标准生产逻辑</a:t>
            </a:r>
          </a:p>
        </p:txBody>
      </p:sp>
      <p:sp>
        <p:nvSpPr>
          <p:cNvPr id="6" name="TextBox 5"/>
          <p:cNvSpPr txBox="1"/>
          <p:nvPr/>
        </p:nvSpPr>
        <p:spPr>
          <a:xfrm>
            <a:off x="8686800" y="210312"/>
            <a:ext cx="3108960" cy="201168"/>
          </a:xfrm>
          <a:prstGeom prst="rect">
            <a:avLst/>
          </a:prstGeom>
          <a:noFill/>
          <a:ln>
            <a:noFill/>
          </a:ln>
        </p:spPr>
        <p:txBody>
          <a:bodyPr wrap="square" lIns="73152" rIns="73152" tIns="36576" bIns="36576" anchor="t">
            <a:spAutoFit/>
          </a:bodyPr>
          <a:lstStyle/>
          <a:p>
            <a:pPr algn="r"/>
            <a:r>
              <a:rPr sz="850" b="0">
                <a:solidFill>
                  <a:srgbClr val="C9D2DC"/>
                </a:solidFill>
                <a:latin typeface="Microsoft YaHei"/>
              </a:rPr>
              <a:t>融策·审盾研究</a:t>
            </a:r>
          </a:p>
        </p:txBody>
      </p:sp>
      <p:sp>
        <p:nvSpPr>
          <p:cNvPr id="7" name="Rounded Rectangle 6"/>
          <p:cNvSpPr/>
          <p:nvPr/>
        </p:nvSpPr>
        <p:spPr>
          <a:xfrm>
            <a:off x="594360" y="1508760"/>
            <a:ext cx="1600200" cy="3291840"/>
          </a:xfrm>
          <a:prstGeom prst="roundRect">
            <a:avLst/>
          </a:prstGeom>
          <a:solidFill>
            <a:srgbClr val="F4F6F8"/>
          </a:solidFill>
          <a:ln w="9525">
            <a:solidFill>
              <a:srgbClr val="D9DE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58952" y="1783080"/>
            <a:ext cx="1261872" cy="292608"/>
          </a:xfrm>
          <a:prstGeom prst="rect">
            <a:avLst/>
          </a:prstGeom>
          <a:noFill/>
          <a:ln>
            <a:noFill/>
          </a:ln>
        </p:spPr>
        <p:txBody>
          <a:bodyPr wrap="square" lIns="73152" rIns="73152" tIns="36576" bIns="36576" anchor="t">
            <a:spAutoFit/>
          </a:bodyPr>
          <a:lstStyle/>
          <a:p>
            <a:pPr algn="ctr"/>
            <a:r>
              <a:rPr sz="1800" b="1">
                <a:solidFill>
                  <a:srgbClr val="061A33"/>
                </a:solidFill>
                <a:latin typeface="Microsoft YaHei"/>
              </a:rPr>
              <a:t>观点</a:t>
            </a:r>
          </a:p>
        </p:txBody>
      </p:sp>
      <p:sp>
        <p:nvSpPr>
          <p:cNvPr id="9" name="Rectangle 8"/>
          <p:cNvSpPr/>
          <p:nvPr/>
        </p:nvSpPr>
        <p:spPr>
          <a:xfrm>
            <a:off x="978408" y="2331720"/>
            <a:ext cx="841248" cy="36576"/>
          </a:xfrm>
          <a:prstGeom prst="rect">
            <a:avLst/>
          </a:prstGeom>
          <a:solidFill>
            <a:srgbClr val="B88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2606040"/>
            <a:ext cx="1325880" cy="256032"/>
          </a:xfrm>
          <a:prstGeom prst="rect">
            <a:avLst/>
          </a:prstGeom>
          <a:noFill/>
          <a:ln>
            <a:noFill/>
          </a:ln>
        </p:spPr>
        <p:txBody>
          <a:bodyPr wrap="square" lIns="73152" rIns="73152" tIns="36576" bIns="36576" anchor="t">
            <a:spAutoFit/>
          </a:bodyPr>
          <a:lstStyle/>
          <a:p>
            <a:pPr algn="ctr"/>
            <a:r>
              <a:rPr sz="1000" b="1">
                <a:solidFill>
                  <a:srgbClr val="1A6F78"/>
                </a:solidFill>
                <a:latin typeface="Microsoft YaHei"/>
              </a:rPr>
              <a:t>一句话判断</a:t>
            </a:r>
          </a:p>
        </p:txBody>
      </p:sp>
      <p:sp>
        <p:nvSpPr>
          <p:cNvPr id="11" name="TextBox 10"/>
          <p:cNvSpPr txBox="1"/>
          <p:nvPr/>
        </p:nvSpPr>
        <p:spPr>
          <a:xfrm>
            <a:off x="758952" y="3035808"/>
            <a:ext cx="1261872" cy="640080"/>
          </a:xfrm>
          <a:prstGeom prst="rect">
            <a:avLst/>
          </a:prstGeom>
          <a:noFill/>
          <a:ln>
            <a:noFill/>
          </a:ln>
        </p:spPr>
        <p:txBody>
          <a:bodyPr wrap="square" lIns="73152" rIns="73152" tIns="36576" bIns="36576" anchor="t">
            <a:spAutoFit/>
          </a:bodyPr>
          <a:lstStyle/>
          <a:p>
            <a:pPr algn="ctr"/>
            <a:r>
              <a:rPr sz="900" b="0">
                <a:solidFill>
                  <a:srgbClr val="53616D"/>
                </a:solidFill>
                <a:latin typeface="Microsoft YaHei"/>
              </a:rPr>
              <a:t>先给结论，不绕弯</a:t>
            </a:r>
          </a:p>
        </p:txBody>
      </p:sp>
      <p:sp>
        <p:nvSpPr>
          <p:cNvPr id="12" name="TextBox 11"/>
          <p:cNvSpPr txBox="1"/>
          <p:nvPr/>
        </p:nvSpPr>
        <p:spPr>
          <a:xfrm>
            <a:off x="2331720" y="2788920"/>
            <a:ext cx="320040" cy="274320"/>
          </a:xfrm>
          <a:prstGeom prst="rect">
            <a:avLst/>
          </a:prstGeom>
          <a:noFill/>
          <a:ln>
            <a:noFill/>
          </a:ln>
        </p:spPr>
        <p:txBody>
          <a:bodyPr wrap="square" lIns="73152" rIns="73152" tIns="36576" bIns="36576" anchor="t">
            <a:spAutoFit/>
          </a:bodyPr>
          <a:lstStyle/>
          <a:p>
            <a:pPr algn="ctr"/>
            <a:r>
              <a:rPr sz="2000" b="1">
                <a:solidFill>
                  <a:srgbClr val="B88A44"/>
                </a:solidFill>
                <a:latin typeface="Microsoft YaHei"/>
              </a:rPr>
              <a:t>→</a:t>
            </a:r>
          </a:p>
        </p:txBody>
      </p:sp>
      <p:sp>
        <p:nvSpPr>
          <p:cNvPr id="13" name="Rounded Rectangle 12"/>
          <p:cNvSpPr/>
          <p:nvPr/>
        </p:nvSpPr>
        <p:spPr>
          <a:xfrm>
            <a:off x="2834640" y="1508760"/>
            <a:ext cx="1600200" cy="3291840"/>
          </a:xfrm>
          <a:prstGeom prst="roundRect">
            <a:avLst/>
          </a:prstGeom>
          <a:solidFill>
            <a:srgbClr val="F4F6F8"/>
          </a:solidFill>
          <a:ln w="9525">
            <a:solidFill>
              <a:srgbClr val="D9DE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999232" y="1783080"/>
            <a:ext cx="1261872" cy="292608"/>
          </a:xfrm>
          <a:prstGeom prst="rect">
            <a:avLst/>
          </a:prstGeom>
          <a:noFill/>
          <a:ln>
            <a:noFill/>
          </a:ln>
        </p:spPr>
        <p:txBody>
          <a:bodyPr wrap="square" lIns="73152" rIns="73152" tIns="36576" bIns="36576" anchor="t">
            <a:spAutoFit/>
          </a:bodyPr>
          <a:lstStyle/>
          <a:p>
            <a:pPr algn="ctr"/>
            <a:r>
              <a:rPr sz="1800" b="1">
                <a:solidFill>
                  <a:srgbClr val="061A33"/>
                </a:solidFill>
                <a:latin typeface="Microsoft YaHei"/>
              </a:rPr>
              <a:t>指标</a:t>
            </a:r>
          </a:p>
        </p:txBody>
      </p:sp>
      <p:sp>
        <p:nvSpPr>
          <p:cNvPr id="15" name="Rectangle 14"/>
          <p:cNvSpPr/>
          <p:nvPr/>
        </p:nvSpPr>
        <p:spPr>
          <a:xfrm>
            <a:off x="3218688" y="2331720"/>
            <a:ext cx="841248" cy="36576"/>
          </a:xfrm>
          <a:prstGeom prst="rect">
            <a:avLst/>
          </a:prstGeom>
          <a:solidFill>
            <a:srgbClr val="B88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971800" y="2606040"/>
            <a:ext cx="1325880" cy="256032"/>
          </a:xfrm>
          <a:prstGeom prst="rect">
            <a:avLst/>
          </a:prstGeom>
          <a:noFill/>
          <a:ln>
            <a:noFill/>
          </a:ln>
        </p:spPr>
        <p:txBody>
          <a:bodyPr wrap="square" lIns="73152" rIns="73152" tIns="36576" bIns="36576" anchor="t">
            <a:spAutoFit/>
          </a:bodyPr>
          <a:lstStyle/>
          <a:p>
            <a:pPr algn="ctr"/>
            <a:r>
              <a:rPr sz="1000" b="1">
                <a:solidFill>
                  <a:srgbClr val="1A6F78"/>
                </a:solidFill>
                <a:latin typeface="Microsoft YaHei"/>
              </a:rPr>
              <a:t>3个关键数字</a:t>
            </a:r>
          </a:p>
        </p:txBody>
      </p:sp>
      <p:sp>
        <p:nvSpPr>
          <p:cNvPr id="17" name="TextBox 16"/>
          <p:cNvSpPr txBox="1"/>
          <p:nvPr/>
        </p:nvSpPr>
        <p:spPr>
          <a:xfrm>
            <a:off x="2999232" y="3035808"/>
            <a:ext cx="1261872" cy="640080"/>
          </a:xfrm>
          <a:prstGeom prst="rect">
            <a:avLst/>
          </a:prstGeom>
          <a:noFill/>
          <a:ln>
            <a:noFill/>
          </a:ln>
        </p:spPr>
        <p:txBody>
          <a:bodyPr wrap="square" lIns="73152" rIns="73152" tIns="36576" bIns="36576" anchor="t">
            <a:spAutoFit/>
          </a:bodyPr>
          <a:lstStyle/>
          <a:p>
            <a:pPr algn="ctr"/>
            <a:r>
              <a:rPr sz="900" b="0">
                <a:solidFill>
                  <a:srgbClr val="53616D"/>
                </a:solidFill>
                <a:latin typeface="Microsoft YaHei"/>
              </a:rPr>
              <a:t>用数字压住场</a:t>
            </a:r>
          </a:p>
        </p:txBody>
      </p:sp>
      <p:sp>
        <p:nvSpPr>
          <p:cNvPr id="18" name="TextBox 17"/>
          <p:cNvSpPr txBox="1"/>
          <p:nvPr/>
        </p:nvSpPr>
        <p:spPr>
          <a:xfrm>
            <a:off x="4572000" y="2788920"/>
            <a:ext cx="320040" cy="274320"/>
          </a:xfrm>
          <a:prstGeom prst="rect">
            <a:avLst/>
          </a:prstGeom>
          <a:noFill/>
          <a:ln>
            <a:noFill/>
          </a:ln>
        </p:spPr>
        <p:txBody>
          <a:bodyPr wrap="square" lIns="73152" rIns="73152" tIns="36576" bIns="36576" anchor="t">
            <a:spAutoFit/>
          </a:bodyPr>
          <a:lstStyle/>
          <a:p>
            <a:pPr algn="ctr"/>
            <a:r>
              <a:rPr sz="2000" b="1">
                <a:solidFill>
                  <a:srgbClr val="B88A44"/>
                </a:solidFill>
                <a:latin typeface="Microsoft YaHei"/>
              </a:rPr>
              <a:t>→</a:t>
            </a:r>
          </a:p>
        </p:txBody>
      </p:sp>
      <p:sp>
        <p:nvSpPr>
          <p:cNvPr id="19" name="Rounded Rectangle 18"/>
          <p:cNvSpPr/>
          <p:nvPr/>
        </p:nvSpPr>
        <p:spPr>
          <a:xfrm>
            <a:off x="5074920" y="1508760"/>
            <a:ext cx="1600200" cy="3291840"/>
          </a:xfrm>
          <a:prstGeom prst="roundRect">
            <a:avLst/>
          </a:prstGeom>
          <a:solidFill>
            <a:srgbClr val="F4F6F8"/>
          </a:solidFill>
          <a:ln w="9525">
            <a:solidFill>
              <a:srgbClr val="D9DE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239512" y="1783080"/>
            <a:ext cx="1261872" cy="292608"/>
          </a:xfrm>
          <a:prstGeom prst="rect">
            <a:avLst/>
          </a:prstGeom>
          <a:noFill/>
          <a:ln>
            <a:noFill/>
          </a:ln>
        </p:spPr>
        <p:txBody>
          <a:bodyPr wrap="square" lIns="73152" rIns="73152" tIns="36576" bIns="36576" anchor="t">
            <a:spAutoFit/>
          </a:bodyPr>
          <a:lstStyle/>
          <a:p>
            <a:pPr algn="ctr"/>
            <a:r>
              <a:rPr sz="1800" b="1">
                <a:solidFill>
                  <a:srgbClr val="061A33"/>
                </a:solidFill>
                <a:latin typeface="Microsoft YaHei"/>
              </a:rPr>
              <a:t>图表</a:t>
            </a:r>
          </a:p>
        </p:txBody>
      </p:sp>
      <p:sp>
        <p:nvSpPr>
          <p:cNvPr id="21" name="Rectangle 20"/>
          <p:cNvSpPr/>
          <p:nvPr/>
        </p:nvSpPr>
        <p:spPr>
          <a:xfrm>
            <a:off x="5458968" y="2331720"/>
            <a:ext cx="841248" cy="36576"/>
          </a:xfrm>
          <a:prstGeom prst="rect">
            <a:avLst/>
          </a:prstGeom>
          <a:solidFill>
            <a:srgbClr val="B88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212080" y="2606040"/>
            <a:ext cx="1325880" cy="256032"/>
          </a:xfrm>
          <a:prstGeom prst="rect">
            <a:avLst/>
          </a:prstGeom>
          <a:noFill/>
          <a:ln>
            <a:noFill/>
          </a:ln>
        </p:spPr>
        <p:txBody>
          <a:bodyPr wrap="square" lIns="73152" rIns="73152" tIns="36576" bIns="36576" anchor="t">
            <a:spAutoFit/>
          </a:bodyPr>
          <a:lstStyle/>
          <a:p>
            <a:pPr algn="ctr"/>
            <a:r>
              <a:rPr sz="1000" b="1">
                <a:solidFill>
                  <a:srgbClr val="1A6F78"/>
                </a:solidFill>
                <a:latin typeface="Microsoft YaHei"/>
              </a:rPr>
              <a:t>一张主证据图</a:t>
            </a:r>
          </a:p>
        </p:txBody>
      </p:sp>
      <p:sp>
        <p:nvSpPr>
          <p:cNvPr id="23" name="TextBox 22"/>
          <p:cNvSpPr txBox="1"/>
          <p:nvPr/>
        </p:nvSpPr>
        <p:spPr>
          <a:xfrm>
            <a:off x="5239512" y="3035808"/>
            <a:ext cx="1261872" cy="640080"/>
          </a:xfrm>
          <a:prstGeom prst="rect">
            <a:avLst/>
          </a:prstGeom>
          <a:noFill/>
          <a:ln>
            <a:noFill/>
          </a:ln>
        </p:spPr>
        <p:txBody>
          <a:bodyPr wrap="square" lIns="73152" rIns="73152" tIns="36576" bIns="36576" anchor="t">
            <a:spAutoFit/>
          </a:bodyPr>
          <a:lstStyle/>
          <a:p>
            <a:pPr algn="ctr"/>
            <a:r>
              <a:rPr sz="900" b="0">
                <a:solidFill>
                  <a:srgbClr val="53616D"/>
                </a:solidFill>
                <a:latin typeface="Microsoft YaHei"/>
              </a:rPr>
              <a:t>趋势/结构/对比/矩阵</a:t>
            </a:r>
          </a:p>
        </p:txBody>
      </p:sp>
      <p:sp>
        <p:nvSpPr>
          <p:cNvPr id="24" name="TextBox 23"/>
          <p:cNvSpPr txBox="1"/>
          <p:nvPr/>
        </p:nvSpPr>
        <p:spPr>
          <a:xfrm>
            <a:off x="6812280" y="2788920"/>
            <a:ext cx="320040" cy="274320"/>
          </a:xfrm>
          <a:prstGeom prst="rect">
            <a:avLst/>
          </a:prstGeom>
          <a:noFill/>
          <a:ln>
            <a:noFill/>
          </a:ln>
        </p:spPr>
        <p:txBody>
          <a:bodyPr wrap="square" lIns="73152" rIns="73152" tIns="36576" bIns="36576" anchor="t">
            <a:spAutoFit/>
          </a:bodyPr>
          <a:lstStyle/>
          <a:p>
            <a:pPr algn="ctr"/>
            <a:r>
              <a:rPr sz="2000" b="1">
                <a:solidFill>
                  <a:srgbClr val="B88A44"/>
                </a:solidFill>
                <a:latin typeface="Microsoft YaHei"/>
              </a:rPr>
              <a:t>→</a:t>
            </a:r>
          </a:p>
        </p:txBody>
      </p:sp>
      <p:sp>
        <p:nvSpPr>
          <p:cNvPr id="25" name="Rounded Rectangle 24"/>
          <p:cNvSpPr/>
          <p:nvPr/>
        </p:nvSpPr>
        <p:spPr>
          <a:xfrm>
            <a:off x="7315200" y="1508760"/>
            <a:ext cx="1600200" cy="3291840"/>
          </a:xfrm>
          <a:prstGeom prst="roundRect">
            <a:avLst/>
          </a:prstGeom>
          <a:solidFill>
            <a:srgbClr val="F4F6F8"/>
          </a:solidFill>
          <a:ln w="9525">
            <a:solidFill>
              <a:srgbClr val="D9DE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79792" y="1783080"/>
            <a:ext cx="1261872" cy="292608"/>
          </a:xfrm>
          <a:prstGeom prst="rect">
            <a:avLst/>
          </a:prstGeom>
          <a:noFill/>
          <a:ln>
            <a:noFill/>
          </a:ln>
        </p:spPr>
        <p:txBody>
          <a:bodyPr wrap="square" lIns="73152" rIns="73152" tIns="36576" bIns="36576" anchor="t">
            <a:spAutoFit/>
          </a:bodyPr>
          <a:lstStyle/>
          <a:p>
            <a:pPr algn="ctr"/>
            <a:r>
              <a:rPr sz="1800" b="1">
                <a:solidFill>
                  <a:srgbClr val="061A33"/>
                </a:solidFill>
                <a:latin typeface="Microsoft YaHei"/>
              </a:rPr>
              <a:t>解释</a:t>
            </a:r>
          </a:p>
        </p:txBody>
      </p:sp>
      <p:sp>
        <p:nvSpPr>
          <p:cNvPr id="27" name="Rectangle 26"/>
          <p:cNvSpPr/>
          <p:nvPr/>
        </p:nvSpPr>
        <p:spPr>
          <a:xfrm>
            <a:off x="7699248" y="2331720"/>
            <a:ext cx="841248" cy="36576"/>
          </a:xfrm>
          <a:prstGeom prst="rect">
            <a:avLst/>
          </a:prstGeom>
          <a:solidFill>
            <a:srgbClr val="B88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452360" y="2606040"/>
            <a:ext cx="1325880" cy="256032"/>
          </a:xfrm>
          <a:prstGeom prst="rect">
            <a:avLst/>
          </a:prstGeom>
          <a:noFill/>
          <a:ln>
            <a:noFill/>
          </a:ln>
        </p:spPr>
        <p:txBody>
          <a:bodyPr wrap="square" lIns="73152" rIns="73152" tIns="36576" bIns="36576" anchor="t">
            <a:spAutoFit/>
          </a:bodyPr>
          <a:lstStyle/>
          <a:p>
            <a:pPr algn="ctr"/>
            <a:r>
              <a:rPr sz="1000" b="1">
                <a:solidFill>
                  <a:srgbClr val="1A6F78"/>
                </a:solidFill>
                <a:latin typeface="Microsoft YaHei"/>
              </a:rPr>
              <a:t>3条核心判断</a:t>
            </a:r>
          </a:p>
        </p:txBody>
      </p:sp>
      <p:sp>
        <p:nvSpPr>
          <p:cNvPr id="29" name="TextBox 28"/>
          <p:cNvSpPr txBox="1"/>
          <p:nvPr/>
        </p:nvSpPr>
        <p:spPr>
          <a:xfrm>
            <a:off x="7479792" y="3035808"/>
            <a:ext cx="1261872" cy="640080"/>
          </a:xfrm>
          <a:prstGeom prst="rect">
            <a:avLst/>
          </a:prstGeom>
          <a:noFill/>
          <a:ln>
            <a:noFill/>
          </a:ln>
        </p:spPr>
        <p:txBody>
          <a:bodyPr wrap="square" lIns="73152" rIns="73152" tIns="36576" bIns="36576" anchor="t">
            <a:spAutoFit/>
          </a:bodyPr>
          <a:lstStyle/>
          <a:p>
            <a:pPr algn="ctr"/>
            <a:r>
              <a:rPr sz="900" b="0">
                <a:solidFill>
                  <a:srgbClr val="53616D"/>
                </a:solidFill>
                <a:latin typeface="Microsoft YaHei"/>
              </a:rPr>
              <a:t>说明为什么重要</a:t>
            </a:r>
          </a:p>
        </p:txBody>
      </p:sp>
      <p:sp>
        <p:nvSpPr>
          <p:cNvPr id="30" name="TextBox 29"/>
          <p:cNvSpPr txBox="1"/>
          <p:nvPr/>
        </p:nvSpPr>
        <p:spPr>
          <a:xfrm>
            <a:off x="9052560" y="2788920"/>
            <a:ext cx="320040" cy="274320"/>
          </a:xfrm>
          <a:prstGeom prst="rect">
            <a:avLst/>
          </a:prstGeom>
          <a:noFill/>
          <a:ln>
            <a:noFill/>
          </a:ln>
        </p:spPr>
        <p:txBody>
          <a:bodyPr wrap="square" lIns="73152" rIns="73152" tIns="36576" bIns="36576" anchor="t">
            <a:spAutoFit/>
          </a:bodyPr>
          <a:lstStyle/>
          <a:p>
            <a:pPr algn="ctr"/>
            <a:r>
              <a:rPr sz="2000" b="1">
                <a:solidFill>
                  <a:srgbClr val="B88A44"/>
                </a:solidFill>
                <a:latin typeface="Microsoft YaHei"/>
              </a:rPr>
              <a:t>→</a:t>
            </a:r>
          </a:p>
        </p:txBody>
      </p:sp>
      <p:sp>
        <p:nvSpPr>
          <p:cNvPr id="31" name="Rounded Rectangle 30"/>
          <p:cNvSpPr/>
          <p:nvPr/>
        </p:nvSpPr>
        <p:spPr>
          <a:xfrm>
            <a:off x="9555480" y="1508760"/>
            <a:ext cx="1600200" cy="3291840"/>
          </a:xfrm>
          <a:prstGeom prst="roundRect">
            <a:avLst/>
          </a:prstGeom>
          <a:solidFill>
            <a:srgbClr val="F4F6F8"/>
          </a:solidFill>
          <a:ln w="9525">
            <a:solidFill>
              <a:srgbClr val="D9DE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720072" y="1783080"/>
            <a:ext cx="1261872" cy="292608"/>
          </a:xfrm>
          <a:prstGeom prst="rect">
            <a:avLst/>
          </a:prstGeom>
          <a:noFill/>
          <a:ln>
            <a:noFill/>
          </a:ln>
        </p:spPr>
        <p:txBody>
          <a:bodyPr wrap="square" lIns="73152" rIns="73152" tIns="36576" bIns="36576" anchor="t">
            <a:spAutoFit/>
          </a:bodyPr>
          <a:lstStyle/>
          <a:p>
            <a:pPr algn="ctr"/>
            <a:r>
              <a:rPr sz="1800" b="1">
                <a:solidFill>
                  <a:srgbClr val="061A33"/>
                </a:solidFill>
                <a:latin typeface="Microsoft YaHei"/>
              </a:rPr>
              <a:t>行动</a:t>
            </a:r>
          </a:p>
        </p:txBody>
      </p:sp>
      <p:sp>
        <p:nvSpPr>
          <p:cNvPr id="33" name="Rectangle 32"/>
          <p:cNvSpPr/>
          <p:nvPr/>
        </p:nvSpPr>
        <p:spPr>
          <a:xfrm>
            <a:off x="9939528" y="2331720"/>
            <a:ext cx="841248" cy="36576"/>
          </a:xfrm>
          <a:prstGeom prst="rect">
            <a:avLst/>
          </a:prstGeom>
          <a:solidFill>
            <a:srgbClr val="B88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692640" y="2606040"/>
            <a:ext cx="1325880" cy="256032"/>
          </a:xfrm>
          <a:prstGeom prst="rect">
            <a:avLst/>
          </a:prstGeom>
          <a:noFill/>
          <a:ln>
            <a:noFill/>
          </a:ln>
        </p:spPr>
        <p:txBody>
          <a:bodyPr wrap="square" lIns="73152" rIns="73152" tIns="36576" bIns="36576" anchor="t">
            <a:spAutoFit/>
          </a:bodyPr>
          <a:lstStyle/>
          <a:p>
            <a:pPr algn="ctr"/>
            <a:r>
              <a:rPr sz="1000" b="1">
                <a:solidFill>
                  <a:srgbClr val="1A6F78"/>
                </a:solidFill>
                <a:latin typeface="Microsoft YaHei"/>
              </a:rPr>
              <a:t>下一步建议</a:t>
            </a:r>
          </a:p>
        </p:txBody>
      </p:sp>
      <p:sp>
        <p:nvSpPr>
          <p:cNvPr id="35" name="TextBox 34"/>
          <p:cNvSpPr txBox="1"/>
          <p:nvPr/>
        </p:nvSpPr>
        <p:spPr>
          <a:xfrm>
            <a:off x="9720072" y="3035808"/>
            <a:ext cx="1261872" cy="640080"/>
          </a:xfrm>
          <a:prstGeom prst="rect">
            <a:avLst/>
          </a:prstGeom>
          <a:noFill/>
          <a:ln>
            <a:noFill/>
          </a:ln>
        </p:spPr>
        <p:txBody>
          <a:bodyPr wrap="square" lIns="73152" rIns="73152" tIns="36576" bIns="36576" anchor="t">
            <a:spAutoFit/>
          </a:bodyPr>
          <a:lstStyle/>
          <a:p>
            <a:pPr algn="ctr"/>
            <a:r>
              <a:rPr sz="900" b="0">
                <a:solidFill>
                  <a:srgbClr val="53616D"/>
                </a:solidFill>
                <a:latin typeface="Microsoft YaHei"/>
              </a:rPr>
              <a:t>落到项目管理动作</a:t>
            </a:r>
          </a:p>
        </p:txBody>
      </p:sp>
      <p:sp>
        <p:nvSpPr>
          <p:cNvPr id="36" name="TextBox 35"/>
          <p:cNvSpPr txBox="1"/>
          <p:nvPr/>
        </p:nvSpPr>
        <p:spPr>
          <a:xfrm>
            <a:off x="347472" y="6473952"/>
            <a:ext cx="5303520" cy="146304"/>
          </a:xfrm>
          <a:prstGeom prst="rect">
            <a:avLst/>
          </a:prstGeom>
          <a:noFill/>
          <a:ln>
            <a:noFill/>
          </a:ln>
        </p:spPr>
        <p:txBody>
          <a:bodyPr wrap="square" lIns="73152" rIns="73152" tIns="36576" bIns="36576" anchor="t">
            <a:spAutoFit/>
          </a:bodyPr>
          <a:lstStyle/>
          <a:p>
            <a:pPr algn="l"/>
            <a:r>
              <a:rPr sz="720" b="0">
                <a:solidFill>
                  <a:srgbClr val="8793A0"/>
                </a:solidFill>
                <a:latin typeface="Microsoft YaHei"/>
              </a:rPr>
              <a:t>资料来源：融策研报模板方法论</a:t>
            </a:r>
          </a:p>
        </p:txBody>
      </p:sp>
      <p:sp>
        <p:nvSpPr>
          <p:cNvPr id="37" name="TextBox 36"/>
          <p:cNvSpPr txBox="1"/>
          <p:nvPr/>
        </p:nvSpPr>
        <p:spPr>
          <a:xfrm>
            <a:off x="9875520" y="6473952"/>
            <a:ext cx="1920240" cy="146304"/>
          </a:xfrm>
          <a:prstGeom prst="rect">
            <a:avLst/>
          </a:prstGeom>
          <a:noFill/>
          <a:ln>
            <a:noFill/>
          </a:ln>
        </p:spPr>
        <p:txBody>
          <a:bodyPr wrap="square" lIns="73152" rIns="73152" tIns="36576" bIns="36576" anchor="t">
            <a:spAutoFit/>
          </a:bodyPr>
          <a:lstStyle/>
          <a:p>
            <a:pPr algn="r"/>
            <a:r>
              <a:rPr sz="720" b="0">
                <a:solidFill>
                  <a:srgbClr val="8793A0"/>
                </a:solidFill>
                <a:latin typeface="Microsoft YaHei"/>
              </a:rPr>
              <a:t>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475488"/>
          </a:xfrm>
          <a:prstGeom prst="rect">
            <a:avLst/>
          </a:prstGeom>
          <a:solidFill>
            <a:srgbClr val="061A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75488"/>
            <a:ext cx="12191695" cy="54864"/>
          </a:xfrm>
          <a:prstGeom prst="rect">
            <a:avLst/>
          </a:prstGeom>
          <a:solidFill>
            <a:srgbClr val="B88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47472" y="73152"/>
            <a:ext cx="2377440" cy="146304"/>
          </a:xfrm>
          <a:prstGeom prst="rect">
            <a:avLst/>
          </a:prstGeom>
          <a:noFill/>
          <a:ln>
            <a:noFill/>
          </a:ln>
        </p:spPr>
        <p:txBody>
          <a:bodyPr wrap="square" lIns="73152" rIns="73152" tIns="36576" bIns="36576" anchor="t">
            <a:spAutoFit/>
          </a:bodyPr>
          <a:lstStyle/>
          <a:p>
            <a:pPr algn="l"/>
            <a:r>
              <a:rPr sz="800" b="1">
                <a:solidFill>
                  <a:srgbClr val="D6B071"/>
                </a:solidFill>
                <a:latin typeface="Microsoft YaHei"/>
              </a:rPr>
              <a:t>结论</a:t>
            </a:r>
          </a:p>
        </p:txBody>
      </p:sp>
      <p:sp>
        <p:nvSpPr>
          <p:cNvPr id="5" name="TextBox 4"/>
          <p:cNvSpPr txBox="1"/>
          <p:nvPr/>
        </p:nvSpPr>
        <p:spPr>
          <a:xfrm>
            <a:off x="347472" y="228600"/>
            <a:ext cx="7498079" cy="201168"/>
          </a:xfrm>
          <a:prstGeom prst="rect">
            <a:avLst/>
          </a:prstGeom>
          <a:noFill/>
          <a:ln>
            <a:noFill/>
          </a:ln>
        </p:spPr>
        <p:txBody>
          <a:bodyPr wrap="square" lIns="73152" rIns="73152" tIns="36576" bIns="36576" anchor="t">
            <a:spAutoFit/>
          </a:bodyPr>
          <a:lstStyle/>
          <a:p>
            <a:pPr algn="l"/>
            <a:r>
              <a:rPr sz="1400" b="1">
                <a:solidFill>
                  <a:srgbClr val="FFFFFF"/>
                </a:solidFill>
                <a:latin typeface="Microsoft YaHei"/>
              </a:rPr>
              <a:t>从样板报告到公司级研报模板库</a:t>
            </a:r>
          </a:p>
        </p:txBody>
      </p:sp>
      <p:sp>
        <p:nvSpPr>
          <p:cNvPr id="6" name="TextBox 5"/>
          <p:cNvSpPr txBox="1"/>
          <p:nvPr/>
        </p:nvSpPr>
        <p:spPr>
          <a:xfrm>
            <a:off x="8686800" y="210312"/>
            <a:ext cx="3108960" cy="201168"/>
          </a:xfrm>
          <a:prstGeom prst="rect">
            <a:avLst/>
          </a:prstGeom>
          <a:noFill/>
          <a:ln>
            <a:noFill/>
          </a:ln>
        </p:spPr>
        <p:txBody>
          <a:bodyPr wrap="square" lIns="73152" rIns="73152" tIns="36576" bIns="36576" anchor="t">
            <a:spAutoFit/>
          </a:bodyPr>
          <a:lstStyle/>
          <a:p>
            <a:pPr algn="r"/>
            <a:r>
              <a:rPr sz="850" b="0">
                <a:solidFill>
                  <a:srgbClr val="C9D2DC"/>
                </a:solidFill>
                <a:latin typeface="Microsoft YaHei"/>
              </a:rPr>
              <a:t>融策·审盾研究</a:t>
            </a:r>
          </a:p>
        </p:txBody>
      </p:sp>
      <p:sp>
        <p:nvSpPr>
          <p:cNvPr id="7" name="Rounded Rectangle 6"/>
          <p:cNvSpPr/>
          <p:nvPr/>
        </p:nvSpPr>
        <p:spPr>
          <a:xfrm>
            <a:off x="640080" y="1005840"/>
            <a:ext cx="3383280" cy="4389120"/>
          </a:xfrm>
          <a:prstGeom prst="roundRect">
            <a:avLst/>
          </a:prstGeom>
          <a:solidFill>
            <a:srgbClr val="FAFBFC"/>
          </a:solidFill>
          <a:ln w="9525">
            <a:solidFill>
              <a:srgbClr val="D9DE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40080" y="1005840"/>
            <a:ext cx="3383280" cy="347472"/>
          </a:xfrm>
          <a:prstGeom prst="rect">
            <a:avLst/>
          </a:prstGeom>
          <a:solidFill>
            <a:srgbClr val="0A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68096" y="1078992"/>
            <a:ext cx="3154680" cy="164592"/>
          </a:xfrm>
          <a:prstGeom prst="rect">
            <a:avLst/>
          </a:prstGeom>
          <a:noFill/>
          <a:ln>
            <a:noFill/>
          </a:ln>
        </p:spPr>
        <p:txBody>
          <a:bodyPr wrap="square" lIns="73152" rIns="73152" tIns="36576" bIns="36576" anchor="t">
            <a:spAutoFit/>
          </a:bodyPr>
          <a:lstStyle/>
          <a:p>
            <a:pPr algn="l"/>
            <a:r>
              <a:rPr sz="950" b="1">
                <a:solidFill>
                  <a:srgbClr val="FFFFFF"/>
                </a:solidFill>
                <a:latin typeface="Microsoft YaHei"/>
              </a:rPr>
              <a:t>短期动作</a:t>
            </a:r>
          </a:p>
        </p:txBody>
      </p:sp>
      <p:sp>
        <p:nvSpPr>
          <p:cNvPr id="10" name="TextBox 9"/>
          <p:cNvSpPr txBox="1"/>
          <p:nvPr/>
        </p:nvSpPr>
        <p:spPr>
          <a:xfrm>
            <a:off x="804672" y="1508760"/>
            <a:ext cx="3072384" cy="3767328"/>
          </a:xfrm>
          <a:prstGeom prst="rect">
            <a:avLst/>
          </a:prstGeom>
          <a:noFill/>
        </p:spPr>
        <p:txBody>
          <a:bodyPr wrap="square" lIns="0" rIns="0" tIns="0" bIns="0">
            <a:spAutoFit/>
          </a:bodyPr>
          <a:lstStyle/>
          <a:p>
            <a:pPr>
              <a:spcAft>
                <a:spcPts val="1100"/>
              </a:spcAft>
            </a:pPr>
            <a:r>
              <a:rPr sz="880" b="1">
                <a:solidFill>
                  <a:srgbClr val="B88A44"/>
                </a:solidFill>
                <a:latin typeface="Microsoft YaHei"/>
              </a:rPr>
              <a:t>1. </a:t>
            </a:r>
            <a:r>
              <a:rPr sz="880" b="0">
                <a:solidFill>
                  <a:srgbClr val="1F2933"/>
                </a:solidFill>
                <a:latin typeface="Microsoft YaHei"/>
              </a:rPr>
              <a:t>先选绩效评价报告作为样板，做1套完整研报版式。</a:t>
            </a:r>
          </a:p>
          <a:p>
            <a:pPr>
              <a:spcAft>
                <a:spcPts val="1100"/>
              </a:spcAft>
            </a:pPr>
            <a:r>
              <a:rPr sz="880" b="1">
                <a:solidFill>
                  <a:srgbClr val="B88A44"/>
                </a:solidFill>
                <a:latin typeface="Microsoft YaHei"/>
              </a:rPr>
              <a:t>2. </a:t>
            </a:r>
            <a:r>
              <a:rPr sz="880" b="0">
                <a:solidFill>
                  <a:srgbClr val="1F2933"/>
                </a:solidFill>
                <a:latin typeface="Microsoft YaHei"/>
              </a:rPr>
              <a:t>固定4类图表：趋势、结构、对比、风险矩阵。</a:t>
            </a:r>
          </a:p>
          <a:p>
            <a:pPr>
              <a:spcAft>
                <a:spcPts val="1100"/>
              </a:spcAft>
            </a:pPr>
            <a:r>
              <a:rPr sz="880" b="1">
                <a:solidFill>
                  <a:srgbClr val="B88A44"/>
                </a:solidFill>
                <a:latin typeface="Microsoft YaHei"/>
              </a:rPr>
              <a:t>3. </a:t>
            </a:r>
            <a:r>
              <a:rPr sz="880" b="0">
                <a:solidFill>
                  <a:srgbClr val="1F2933"/>
                </a:solidFill>
                <a:latin typeface="Microsoft YaHei"/>
              </a:rPr>
              <a:t>每张图绑定一条正文判断和一条资料来源。</a:t>
            </a:r>
          </a:p>
        </p:txBody>
      </p:sp>
      <p:sp>
        <p:nvSpPr>
          <p:cNvPr id="11" name="Rounded Rectangle 10"/>
          <p:cNvSpPr/>
          <p:nvPr/>
        </p:nvSpPr>
        <p:spPr>
          <a:xfrm>
            <a:off x="4389120" y="1005840"/>
            <a:ext cx="3383280" cy="4389120"/>
          </a:xfrm>
          <a:prstGeom prst="roundRect">
            <a:avLst/>
          </a:prstGeom>
          <a:solidFill>
            <a:srgbClr val="FAFBFC"/>
          </a:solidFill>
          <a:ln w="9525">
            <a:solidFill>
              <a:srgbClr val="D9DE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89120" y="1005840"/>
            <a:ext cx="3383280" cy="347472"/>
          </a:xfrm>
          <a:prstGeom prst="rect">
            <a:avLst/>
          </a:prstGeom>
          <a:solidFill>
            <a:srgbClr val="1A6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17136" y="1078992"/>
            <a:ext cx="3154680" cy="164592"/>
          </a:xfrm>
          <a:prstGeom prst="rect">
            <a:avLst/>
          </a:prstGeom>
          <a:noFill/>
          <a:ln>
            <a:noFill/>
          </a:ln>
        </p:spPr>
        <p:txBody>
          <a:bodyPr wrap="square" lIns="73152" rIns="73152" tIns="36576" bIns="36576" anchor="t">
            <a:spAutoFit/>
          </a:bodyPr>
          <a:lstStyle/>
          <a:p>
            <a:pPr algn="l"/>
            <a:r>
              <a:rPr sz="950" b="1">
                <a:solidFill>
                  <a:srgbClr val="FFFFFF"/>
                </a:solidFill>
                <a:latin typeface="Microsoft YaHei"/>
              </a:rPr>
              <a:t>中期建设</a:t>
            </a:r>
          </a:p>
        </p:txBody>
      </p:sp>
      <p:sp>
        <p:nvSpPr>
          <p:cNvPr id="14" name="TextBox 13"/>
          <p:cNvSpPr txBox="1"/>
          <p:nvPr/>
        </p:nvSpPr>
        <p:spPr>
          <a:xfrm>
            <a:off x="4553712" y="1508760"/>
            <a:ext cx="3072384" cy="3767328"/>
          </a:xfrm>
          <a:prstGeom prst="rect">
            <a:avLst/>
          </a:prstGeom>
          <a:noFill/>
        </p:spPr>
        <p:txBody>
          <a:bodyPr wrap="square" lIns="0" rIns="0" tIns="0" bIns="0">
            <a:spAutoFit/>
          </a:bodyPr>
          <a:lstStyle/>
          <a:p>
            <a:pPr>
              <a:spcAft>
                <a:spcPts val="1100"/>
              </a:spcAft>
            </a:pPr>
            <a:r>
              <a:rPr sz="880" b="1">
                <a:solidFill>
                  <a:srgbClr val="B88A44"/>
                </a:solidFill>
                <a:latin typeface="Microsoft YaHei"/>
              </a:rPr>
              <a:t>1. </a:t>
            </a:r>
            <a:r>
              <a:rPr sz="880" b="0">
                <a:solidFill>
                  <a:srgbClr val="1F2933"/>
                </a:solidFill>
                <a:latin typeface="Microsoft YaHei"/>
              </a:rPr>
              <a:t>建立业务线模板库：绩效/经责/工程/专项资金。</a:t>
            </a:r>
          </a:p>
          <a:p>
            <a:pPr>
              <a:spcAft>
                <a:spcPts val="1100"/>
              </a:spcAft>
            </a:pPr>
            <a:r>
              <a:rPr sz="880" b="1">
                <a:solidFill>
                  <a:srgbClr val="B88A44"/>
                </a:solidFill>
                <a:latin typeface="Microsoft YaHei"/>
              </a:rPr>
              <a:t>2. </a:t>
            </a:r>
            <a:r>
              <a:rPr sz="880" b="0">
                <a:solidFill>
                  <a:srgbClr val="1F2933"/>
                </a:solidFill>
                <a:latin typeface="Microsoft YaHei"/>
              </a:rPr>
              <a:t>形成数据口径、图表样式、判断句库三件套。</a:t>
            </a:r>
          </a:p>
          <a:p>
            <a:pPr>
              <a:spcAft>
                <a:spcPts val="1100"/>
              </a:spcAft>
            </a:pPr>
            <a:r>
              <a:rPr sz="880" b="1">
                <a:solidFill>
                  <a:srgbClr val="B88A44"/>
                </a:solidFill>
                <a:latin typeface="Microsoft YaHei"/>
              </a:rPr>
              <a:t>3. </a:t>
            </a:r>
            <a:r>
              <a:rPr sz="880" b="0">
                <a:solidFill>
                  <a:srgbClr val="1F2933"/>
                </a:solidFill>
                <a:latin typeface="Microsoft YaHei"/>
              </a:rPr>
              <a:t>把AI复核嵌入模板交付流程。</a:t>
            </a:r>
          </a:p>
        </p:txBody>
      </p:sp>
      <p:sp>
        <p:nvSpPr>
          <p:cNvPr id="15" name="Rounded Rectangle 14"/>
          <p:cNvSpPr/>
          <p:nvPr/>
        </p:nvSpPr>
        <p:spPr>
          <a:xfrm>
            <a:off x="8138160" y="1005840"/>
            <a:ext cx="3383280" cy="4389120"/>
          </a:xfrm>
          <a:prstGeom prst="roundRect">
            <a:avLst/>
          </a:prstGeom>
          <a:solidFill>
            <a:srgbClr val="FAFBFC"/>
          </a:solidFill>
          <a:ln w="9525">
            <a:solidFill>
              <a:srgbClr val="D9DE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138160" y="1005840"/>
            <a:ext cx="3383280" cy="347472"/>
          </a:xfrm>
          <a:prstGeom prst="rect">
            <a:avLst/>
          </a:prstGeom>
          <a:solidFill>
            <a:srgbClr val="B88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66176" y="1078992"/>
            <a:ext cx="3154680" cy="164592"/>
          </a:xfrm>
          <a:prstGeom prst="rect">
            <a:avLst/>
          </a:prstGeom>
          <a:noFill/>
          <a:ln>
            <a:noFill/>
          </a:ln>
        </p:spPr>
        <p:txBody>
          <a:bodyPr wrap="square" lIns="73152" rIns="73152" tIns="36576" bIns="36576" anchor="t">
            <a:spAutoFit/>
          </a:bodyPr>
          <a:lstStyle/>
          <a:p>
            <a:pPr algn="l"/>
            <a:r>
              <a:rPr sz="950" b="1">
                <a:solidFill>
                  <a:srgbClr val="FFFFFF"/>
                </a:solidFill>
                <a:latin typeface="Microsoft YaHei"/>
              </a:rPr>
              <a:t>长期价值</a:t>
            </a:r>
          </a:p>
        </p:txBody>
      </p:sp>
      <p:sp>
        <p:nvSpPr>
          <p:cNvPr id="18" name="TextBox 17"/>
          <p:cNvSpPr txBox="1"/>
          <p:nvPr/>
        </p:nvSpPr>
        <p:spPr>
          <a:xfrm>
            <a:off x="8302752" y="1508760"/>
            <a:ext cx="3072384" cy="3767328"/>
          </a:xfrm>
          <a:prstGeom prst="rect">
            <a:avLst/>
          </a:prstGeom>
          <a:noFill/>
        </p:spPr>
        <p:txBody>
          <a:bodyPr wrap="square" lIns="0" rIns="0" tIns="0" bIns="0">
            <a:spAutoFit/>
          </a:bodyPr>
          <a:lstStyle/>
          <a:p>
            <a:pPr>
              <a:spcAft>
                <a:spcPts val="1100"/>
              </a:spcAft>
            </a:pPr>
            <a:r>
              <a:rPr sz="880" b="1">
                <a:solidFill>
                  <a:srgbClr val="B88A44"/>
                </a:solidFill>
                <a:latin typeface="Microsoft YaHei"/>
              </a:rPr>
              <a:t>1. </a:t>
            </a:r>
            <a:r>
              <a:rPr sz="880" b="0">
                <a:solidFill>
                  <a:srgbClr val="1F2933"/>
                </a:solidFill>
                <a:latin typeface="Microsoft YaHei"/>
              </a:rPr>
              <a:t>形成融策自己的“研究型审计报告”品牌。</a:t>
            </a:r>
          </a:p>
          <a:p>
            <a:pPr>
              <a:spcAft>
                <a:spcPts val="1100"/>
              </a:spcAft>
            </a:pPr>
            <a:r>
              <a:rPr sz="880" b="1">
                <a:solidFill>
                  <a:srgbClr val="B88A44"/>
                </a:solidFill>
                <a:latin typeface="Microsoft YaHei"/>
              </a:rPr>
              <a:t>2. </a:t>
            </a:r>
            <a:r>
              <a:rPr sz="880" b="0">
                <a:solidFill>
                  <a:srgbClr val="1F2933"/>
                </a:solidFill>
                <a:latin typeface="Microsoft YaHei"/>
              </a:rPr>
              <a:t>让客户感知从审计服务升级到决策支持。</a:t>
            </a:r>
          </a:p>
          <a:p>
            <a:pPr>
              <a:spcAft>
                <a:spcPts val="1100"/>
              </a:spcAft>
            </a:pPr>
            <a:r>
              <a:rPr sz="880" b="1">
                <a:solidFill>
                  <a:srgbClr val="B88A44"/>
                </a:solidFill>
                <a:latin typeface="Microsoft YaHei"/>
              </a:rPr>
              <a:t>3. </a:t>
            </a:r>
            <a:r>
              <a:rPr sz="880" b="0">
                <a:solidFill>
                  <a:srgbClr val="1F2933"/>
                </a:solidFill>
                <a:latin typeface="Microsoft YaHei"/>
              </a:rPr>
              <a:t>为审盾产品化和投标展示提供样板资产。</a:t>
            </a:r>
          </a:p>
        </p:txBody>
      </p:sp>
      <p:sp>
        <p:nvSpPr>
          <p:cNvPr id="19" name="TextBox 18"/>
          <p:cNvSpPr txBox="1"/>
          <p:nvPr/>
        </p:nvSpPr>
        <p:spPr>
          <a:xfrm>
            <a:off x="347472" y="6473952"/>
            <a:ext cx="5303520" cy="146304"/>
          </a:xfrm>
          <a:prstGeom prst="rect">
            <a:avLst/>
          </a:prstGeom>
          <a:noFill/>
          <a:ln>
            <a:noFill/>
          </a:ln>
        </p:spPr>
        <p:txBody>
          <a:bodyPr wrap="square" lIns="73152" rIns="73152" tIns="36576" bIns="36576" anchor="t">
            <a:spAutoFit/>
          </a:bodyPr>
          <a:lstStyle/>
          <a:p>
            <a:pPr algn="l"/>
            <a:r>
              <a:rPr sz="720" b="0">
                <a:solidFill>
                  <a:srgbClr val="8793A0"/>
                </a:solidFill>
                <a:latin typeface="Microsoft YaHei"/>
              </a:rPr>
              <a:t>资料来源：融策AI审计中台建设路线</a:t>
            </a:r>
          </a:p>
        </p:txBody>
      </p:sp>
      <p:sp>
        <p:nvSpPr>
          <p:cNvPr id="20" name="TextBox 19"/>
          <p:cNvSpPr txBox="1"/>
          <p:nvPr/>
        </p:nvSpPr>
        <p:spPr>
          <a:xfrm>
            <a:off x="9875520" y="6473952"/>
            <a:ext cx="1920240" cy="146304"/>
          </a:xfrm>
          <a:prstGeom prst="rect">
            <a:avLst/>
          </a:prstGeom>
          <a:noFill/>
          <a:ln>
            <a:noFill/>
          </a:ln>
        </p:spPr>
        <p:txBody>
          <a:bodyPr wrap="square" lIns="73152" rIns="73152" tIns="36576" bIns="36576" anchor="t">
            <a:spAutoFit/>
          </a:bodyPr>
          <a:lstStyle/>
          <a:p>
            <a:pPr algn="r"/>
            <a:r>
              <a:rPr sz="720" b="0">
                <a:solidFill>
                  <a:srgbClr val="8793A0"/>
                </a:solidFill>
                <a:latin typeface="Microsoft YaHei"/>
              </a:rPr>
              <a:t>08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475488"/>
          </a:xfrm>
          <a:prstGeom prst="rect">
            <a:avLst/>
          </a:prstGeom>
          <a:solidFill>
            <a:srgbClr val="061A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75488"/>
            <a:ext cx="12191695" cy="54864"/>
          </a:xfrm>
          <a:prstGeom prst="rect">
            <a:avLst/>
          </a:prstGeom>
          <a:solidFill>
            <a:srgbClr val="B88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47472" y="73152"/>
            <a:ext cx="2377440" cy="146304"/>
          </a:xfrm>
          <a:prstGeom prst="rect">
            <a:avLst/>
          </a:prstGeom>
          <a:noFill/>
          <a:ln>
            <a:noFill/>
          </a:ln>
        </p:spPr>
        <p:txBody>
          <a:bodyPr wrap="square" lIns="73152" rIns="73152" tIns="36576" bIns="36576" anchor="t">
            <a:spAutoFit/>
          </a:bodyPr>
          <a:lstStyle/>
          <a:p>
            <a:pPr algn="l"/>
            <a:r>
              <a:rPr sz="800" b="1">
                <a:solidFill>
                  <a:srgbClr val="D6B071"/>
                </a:solidFill>
                <a:latin typeface="Microsoft YaHei"/>
              </a:rPr>
              <a:t>免责声明</a:t>
            </a:r>
          </a:p>
        </p:txBody>
      </p:sp>
      <p:sp>
        <p:nvSpPr>
          <p:cNvPr id="5" name="TextBox 4"/>
          <p:cNvSpPr txBox="1"/>
          <p:nvPr/>
        </p:nvSpPr>
        <p:spPr>
          <a:xfrm>
            <a:off x="347472" y="228600"/>
            <a:ext cx="7498079" cy="201168"/>
          </a:xfrm>
          <a:prstGeom prst="rect">
            <a:avLst/>
          </a:prstGeom>
          <a:noFill/>
          <a:ln>
            <a:noFill/>
          </a:ln>
        </p:spPr>
        <p:txBody>
          <a:bodyPr wrap="square" lIns="73152" rIns="73152" tIns="36576" bIns="36576" anchor="t">
            <a:spAutoFit/>
          </a:bodyPr>
          <a:lstStyle/>
          <a:p>
            <a:pPr algn="l"/>
            <a:r>
              <a:rPr sz="1400" b="1">
                <a:solidFill>
                  <a:srgbClr val="FFFFFF"/>
                </a:solidFill>
                <a:latin typeface="Microsoft YaHei"/>
              </a:rPr>
              <a:t>报告使用边界</a:t>
            </a:r>
          </a:p>
        </p:txBody>
      </p:sp>
      <p:sp>
        <p:nvSpPr>
          <p:cNvPr id="6" name="TextBox 5"/>
          <p:cNvSpPr txBox="1"/>
          <p:nvPr/>
        </p:nvSpPr>
        <p:spPr>
          <a:xfrm>
            <a:off x="8686800" y="210312"/>
            <a:ext cx="3108960" cy="201168"/>
          </a:xfrm>
          <a:prstGeom prst="rect">
            <a:avLst/>
          </a:prstGeom>
          <a:noFill/>
          <a:ln>
            <a:noFill/>
          </a:ln>
        </p:spPr>
        <p:txBody>
          <a:bodyPr wrap="square" lIns="73152" rIns="73152" tIns="36576" bIns="36576" anchor="t">
            <a:spAutoFit/>
          </a:bodyPr>
          <a:lstStyle/>
          <a:p>
            <a:pPr algn="r"/>
            <a:r>
              <a:rPr sz="850" b="0">
                <a:solidFill>
                  <a:srgbClr val="C9D2DC"/>
                </a:solidFill>
                <a:latin typeface="Microsoft YaHei"/>
              </a:rPr>
              <a:t>融策·审盾研究</a:t>
            </a:r>
          </a:p>
        </p:txBody>
      </p:sp>
      <p:sp>
        <p:nvSpPr>
          <p:cNvPr id="7" name="TextBox 6"/>
          <p:cNvSpPr txBox="1"/>
          <p:nvPr/>
        </p:nvSpPr>
        <p:spPr>
          <a:xfrm>
            <a:off x="685800" y="1143000"/>
            <a:ext cx="10607040" cy="1051560"/>
          </a:xfrm>
          <a:prstGeom prst="rect">
            <a:avLst/>
          </a:prstGeom>
          <a:noFill/>
          <a:ln>
            <a:noFill/>
          </a:ln>
        </p:spPr>
        <p:txBody>
          <a:bodyPr wrap="square" lIns="73152" rIns="73152" tIns="36576" bIns="36576" anchor="t">
            <a:spAutoFit/>
          </a:bodyPr>
          <a:lstStyle/>
          <a:p>
            <a:pPr algn="l"/>
            <a:r>
              <a:rPr sz="1100" b="0">
                <a:solidFill>
                  <a:srgbClr val="1F2933"/>
                </a:solidFill>
                <a:latin typeface="Microsoft YaHei"/>
              </a:rPr>
              <a:t>本报告为四川融策会计师事务所及四川融策工程咨询公司内部研报模板示例，所列数据与案例仅用于展示图文协同版式，不构成正式审计结论、投资建议或对外承诺。正式项目报告应以经复核的底稿、取证材料、法规依据和签批流程为准。</a:t>
            </a:r>
          </a:p>
        </p:txBody>
      </p:sp>
      <p:sp>
        <p:nvSpPr>
          <p:cNvPr id="8" name="TextBox 7"/>
          <p:cNvSpPr txBox="1"/>
          <p:nvPr/>
        </p:nvSpPr>
        <p:spPr>
          <a:xfrm>
            <a:off x="685800" y="2788920"/>
            <a:ext cx="10607040" cy="292608"/>
          </a:xfrm>
          <a:prstGeom prst="rect">
            <a:avLst/>
          </a:prstGeom>
          <a:noFill/>
          <a:ln>
            <a:noFill/>
          </a:ln>
        </p:spPr>
        <p:txBody>
          <a:bodyPr wrap="square" lIns="73152" rIns="73152" tIns="36576" bIns="36576" anchor="t">
            <a:spAutoFit/>
          </a:bodyPr>
          <a:lstStyle/>
          <a:p>
            <a:pPr algn="l"/>
            <a:r>
              <a:rPr sz="1500" b="1">
                <a:solidFill>
                  <a:srgbClr val="061A33"/>
                </a:solidFill>
                <a:latin typeface="Microsoft YaHei"/>
              </a:rPr>
              <a:t>使用要求</a:t>
            </a:r>
          </a:p>
        </p:txBody>
      </p:sp>
      <p:sp>
        <p:nvSpPr>
          <p:cNvPr id="9" name="TextBox 8"/>
          <p:cNvSpPr txBox="1"/>
          <p:nvPr/>
        </p:nvSpPr>
        <p:spPr>
          <a:xfrm>
            <a:off x="685800" y="3246120"/>
            <a:ext cx="9966960" cy="1234440"/>
          </a:xfrm>
          <a:prstGeom prst="rect">
            <a:avLst/>
          </a:prstGeom>
          <a:noFill/>
          <a:ln>
            <a:noFill/>
          </a:ln>
        </p:spPr>
        <p:txBody>
          <a:bodyPr wrap="square" lIns="73152" rIns="73152" tIns="36576" bIns="36576" anchor="t">
            <a:spAutoFit/>
          </a:bodyPr>
          <a:lstStyle/>
          <a:p>
            <a:pPr algn="l"/>
            <a:r>
              <a:rPr sz="1050" b="0">
                <a:solidFill>
                  <a:srgbClr val="53616D"/>
                </a:solidFill>
                <a:latin typeface="Microsoft YaHei"/>
              </a:rPr>
              <a:t>1. 图表数据必须注明来源；
2. 重大金额、比率和结论必须与底稿交叉核验；
3. AI生成内容必须经项目经理和质控复核后方可用于正式报告；
4. 对外版本应删除内部方法、模型路由和未公开数据来源。</a:t>
            </a:r>
          </a:p>
        </p:txBody>
      </p:sp>
      <p:sp>
        <p:nvSpPr>
          <p:cNvPr id="10" name="TextBox 9"/>
          <p:cNvSpPr txBox="1"/>
          <p:nvPr/>
        </p:nvSpPr>
        <p:spPr>
          <a:xfrm>
            <a:off x="347472" y="6473952"/>
            <a:ext cx="5303520" cy="146304"/>
          </a:xfrm>
          <a:prstGeom prst="rect">
            <a:avLst/>
          </a:prstGeom>
          <a:noFill/>
          <a:ln>
            <a:noFill/>
          </a:ln>
        </p:spPr>
        <p:txBody>
          <a:bodyPr wrap="square" lIns="73152" rIns="73152" tIns="36576" bIns="36576" anchor="t">
            <a:spAutoFit/>
          </a:bodyPr>
          <a:lstStyle/>
          <a:p>
            <a:pPr algn="l"/>
            <a:r>
              <a:rPr sz="720" b="0">
                <a:solidFill>
                  <a:srgbClr val="8793A0"/>
                </a:solidFill>
                <a:latin typeface="Microsoft YaHei"/>
              </a:rPr>
              <a:t>资料来源：融策内部模板</a:t>
            </a:r>
          </a:p>
        </p:txBody>
      </p:sp>
      <p:sp>
        <p:nvSpPr>
          <p:cNvPr id="11" name="TextBox 10"/>
          <p:cNvSpPr txBox="1"/>
          <p:nvPr/>
        </p:nvSpPr>
        <p:spPr>
          <a:xfrm>
            <a:off x="9875520" y="6473952"/>
            <a:ext cx="1920240" cy="146304"/>
          </a:xfrm>
          <a:prstGeom prst="rect">
            <a:avLst/>
          </a:prstGeom>
          <a:noFill/>
          <a:ln>
            <a:noFill/>
          </a:ln>
        </p:spPr>
        <p:txBody>
          <a:bodyPr wrap="square" lIns="73152" rIns="73152" tIns="36576" bIns="36576" anchor="t">
            <a:spAutoFit/>
          </a:bodyPr>
          <a:lstStyle/>
          <a:p>
            <a:pPr algn="r"/>
            <a:r>
              <a:rPr sz="720" b="0">
                <a:solidFill>
                  <a:srgbClr val="8793A0"/>
                </a:solidFill>
                <a:latin typeface="Microsoft YaHei"/>
              </a:rPr>
              <a:t>09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