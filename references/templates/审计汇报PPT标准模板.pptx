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114800"/>
          </a:xfrm>
          <a:prstGeom prst="rect">
            <a:avLst/>
          </a:prstGeom>
          <a:solidFill>
            <a:srgbClr val="0F2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88888"/>
                </a:solidFill>
              </a:rPr>
              <a:t>审计 / 咨询报告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8046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</a:rPr>
              <a:t>[请输入报告标题]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</a:rPr>
              <a:t>四川融策会计师事务所 / 四川融策工程咨询公司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93776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8888"/>
                </a:solidFill>
              </a:rPr>
              <a:t>2026年05月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21792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</a:rPr>
              <a:t>机密 · 仅限内部使用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>
                <a:solidFill>
                  <a:srgbClr val="888888"/>
                </a:solidFill>
              </a:rPr>
              <a:t>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A3A6E"/>
                </a:solidFill>
              </a:rPr>
              <a:t>目  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8046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888888"/>
                </a:solidFill>
              </a:rPr>
              <a:t>CONTENTS</a:t>
            </a:r>
          </a:p>
        </p:txBody>
      </p:sp>
      <p:sp>
        <p:nvSpPr>
          <p:cNvPr id="5" name="Oval 4"/>
          <p:cNvSpPr/>
          <p:nvPr/>
        </p:nvSpPr>
        <p:spPr>
          <a:xfrm>
            <a:off x="914400" y="1463040"/>
            <a:ext cx="411480" cy="411480"/>
          </a:xfrm>
          <a:prstGeom prst="ellipse">
            <a:avLst/>
          </a:prstGeom>
          <a:solidFill>
            <a:srgbClr val="1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46304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</a:rPr>
              <a:t>项目概述与目标</a:t>
            </a:r>
          </a:p>
        </p:txBody>
      </p:sp>
      <p:sp>
        <p:nvSpPr>
          <p:cNvPr id="7" name="Oval 6"/>
          <p:cNvSpPr/>
          <p:nvPr/>
        </p:nvSpPr>
        <p:spPr>
          <a:xfrm>
            <a:off x="914400" y="2194560"/>
            <a:ext cx="411480" cy="411480"/>
          </a:xfrm>
          <a:prstGeom prst="ellipse">
            <a:avLst/>
          </a:prstGeom>
          <a:solidFill>
            <a:srgbClr val="1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19456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</a:rPr>
              <a:t>项目总体情况分析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2926080"/>
            <a:ext cx="411480" cy="411480"/>
          </a:xfrm>
          <a:prstGeom prst="ellipse">
            <a:avLst/>
          </a:prstGeom>
          <a:solidFill>
            <a:srgbClr val="1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92608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</a:rPr>
              <a:t>重点问题深度剖析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3657600"/>
            <a:ext cx="411480" cy="411480"/>
          </a:xfrm>
          <a:prstGeom prst="ellipse">
            <a:avLst/>
          </a:prstGeom>
          <a:solidFill>
            <a:srgbClr val="1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365760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</a:rPr>
              <a:t>问题发现汇总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4389120"/>
            <a:ext cx="411480" cy="411480"/>
          </a:xfrm>
          <a:prstGeom prst="ellipse">
            <a:avLst/>
          </a:prstGeom>
          <a:solidFill>
            <a:srgbClr val="1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438912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</a:rPr>
              <a:t>改进建议与方案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5120640"/>
            <a:ext cx="411480" cy="411480"/>
          </a:xfrm>
          <a:prstGeom prst="ellipse">
            <a:avLst/>
          </a:prstGeom>
          <a:solidFill>
            <a:srgbClr val="1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512064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</a:rPr>
              <a:t>结论与总体评价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>
                <a:solidFill>
                  <a:srgbClr val="888888"/>
                </a:solidFill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A3A6E"/>
                </a:solidFill>
              </a:rPr>
              <a:t>一、项目概述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8046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888888"/>
                </a:solidFill>
              </a:rPr>
              <a:t>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768096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1A3A6E"/>
                </a:solidFill>
              </a:rPr>
              <a:t>▸  </a:t>
            </a:r>
            <a:r>
              <a:rPr sz="1200">
                <a:solidFill>
                  <a:srgbClr val="333333"/>
                </a:solidFill>
              </a:rPr>
              <a:t>委托单位：[请输入委托单位全称]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1A3A6E"/>
                </a:solidFill>
              </a:rPr>
              <a:t>▸  </a:t>
            </a:r>
            <a:r>
              <a:rPr sz="1200">
                <a:solidFill>
                  <a:srgbClr val="333333"/>
                </a:solidFill>
              </a:rPr>
              <a:t>被审计单位：[请输入被审计单位全称]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1A3A6E"/>
                </a:solidFill>
              </a:rPr>
              <a:t>▸  </a:t>
            </a:r>
            <a:r>
              <a:rPr sz="1200">
                <a:solidFill>
                  <a:srgbClr val="333333"/>
                </a:solidFill>
              </a:rPr>
              <a:t>项目类型：绩效评价 / 资产清查 / 专项债审计 / 工程结算 / 其他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1A3A6E"/>
                </a:solidFill>
              </a:rPr>
              <a:t>▸  </a:t>
            </a:r>
            <a:r>
              <a:rPr sz="1200">
                <a:solidFill>
                  <a:srgbClr val="333333"/>
                </a:solidFill>
              </a:rPr>
              <a:t>实施周期：[开始日期] 至 [结束日期]，历时 [天数] 天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1A3A6E"/>
                </a:solidFill>
              </a:rPr>
              <a:t>▸  </a:t>
            </a:r>
            <a:r>
              <a:rPr sz="1200">
                <a:solidFill>
                  <a:srgbClr val="333333"/>
                </a:solidFill>
              </a:rPr>
              <a:t>投入力量：累计 [人数] 人次，查阅凭证[数量]份、合同[数量]份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>
                <a:solidFill>
                  <a:srgbClr val="888888"/>
                </a:solidFill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A3A6E"/>
                </a:solidFill>
              </a:rPr>
              <a:t>一、核心指标概览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8046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888888"/>
                </a:solidFill>
              </a:rPr>
              <a:t>Key Indicators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2377440" cy="1097280"/>
          </a:xfrm>
          <a:prstGeom prst="roundRect">
            <a:avLst/>
          </a:prstGeom>
          <a:solidFill>
            <a:srgbClr val="EE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1A3A6E"/>
                </a:solidFill>
              </a:rPr>
              <a:t>2,000万元</a:t>
            </a:r>
          </a:p>
          <a:p>
            <a:pPr algn="ctr"/>
            <a:r>
              <a:rPr sz="1000">
                <a:solidFill>
                  <a:srgbClr val="888888"/>
                </a:solidFill>
              </a:rPr>
              <a:t>项目总预算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0" y="1371600"/>
            <a:ext cx="2377440" cy="1097280"/>
          </a:xfrm>
          <a:prstGeom prst="roundRect">
            <a:avLst/>
          </a:prstGeom>
          <a:solidFill>
            <a:srgbClr val="EE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3498DB"/>
                </a:solidFill>
              </a:rPr>
              <a:t>1,645.67万元</a:t>
            </a:r>
          </a:p>
          <a:p>
            <a:pPr algn="ctr"/>
            <a:r>
              <a:rPr sz="1000">
                <a:solidFill>
                  <a:srgbClr val="888888"/>
                </a:solidFill>
              </a:rPr>
              <a:t>实际支出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52160" y="1371600"/>
            <a:ext cx="2377440" cy="1097280"/>
          </a:xfrm>
          <a:prstGeom prst="roundRect">
            <a:avLst/>
          </a:prstGeom>
          <a:solidFill>
            <a:srgbClr val="EE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27AE60"/>
                </a:solidFill>
              </a:rPr>
              <a:t>82.3%</a:t>
            </a:r>
          </a:p>
          <a:p>
            <a:pPr algn="ctr"/>
            <a:r>
              <a:rPr sz="1000">
                <a:solidFill>
                  <a:srgbClr val="888888"/>
                </a:solidFill>
              </a:rPr>
              <a:t>总体执行率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743200"/>
            <a:ext cx="2377440" cy="1097280"/>
          </a:xfrm>
          <a:prstGeom prst="roundRect">
            <a:avLst/>
          </a:prstGeom>
          <a:solidFill>
            <a:srgbClr val="EE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CC3333"/>
                </a:solidFill>
              </a:rPr>
              <a:t>19项</a:t>
            </a:r>
          </a:p>
          <a:p>
            <a:pPr algn="ctr"/>
            <a:r>
              <a:rPr sz="1000">
                <a:solidFill>
                  <a:srgbClr val="888888"/>
                </a:solidFill>
              </a:rPr>
              <a:t>发现问题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2743200"/>
            <a:ext cx="2377440" cy="1097280"/>
          </a:xfrm>
          <a:prstGeom prst="roundRect">
            <a:avLst/>
          </a:prstGeom>
          <a:solidFill>
            <a:srgbClr val="EE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CC3333"/>
                </a:solidFill>
              </a:rPr>
              <a:t>3项</a:t>
            </a:r>
          </a:p>
          <a:p>
            <a:pPr algn="ctr"/>
            <a:r>
              <a:rPr sz="1000">
                <a:solidFill>
                  <a:srgbClr val="888888"/>
                </a:solidFill>
              </a:rPr>
              <a:t>高风险问题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52160" y="2743200"/>
            <a:ext cx="2377440" cy="1097280"/>
          </a:xfrm>
          <a:prstGeom prst="roundRect">
            <a:avLst/>
          </a:prstGeom>
          <a:solidFill>
            <a:srgbClr val="EE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E86A17"/>
                </a:solidFill>
              </a:rPr>
              <a:t>16项</a:t>
            </a:r>
          </a:p>
          <a:p>
            <a:pPr algn="ctr"/>
            <a:r>
              <a:rPr sz="1000">
                <a:solidFill>
                  <a:srgbClr val="888888"/>
                </a:solidFill>
              </a:rPr>
              <a:t>中低风险问题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389120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i="1">
                <a:solidFill>
                  <a:srgbClr val="888888"/>
                </a:solidFill>
              </a:rPr>
              <a:t>数据来源：根据项目财务台账及银行对账单汇总，统计截至202X年X月X日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>
                <a:solidFill>
                  <a:srgbClr val="888888"/>
                </a:solidFill>
              </a:rP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A3A6E"/>
                </a:solidFill>
              </a:rPr>
              <a:t>二、预算执行情况对比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8046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888888"/>
                </a:solidFill>
              </a:rPr>
              <a:t>Budget Execution Comparison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280160"/>
          <a:ext cx="804672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645920"/>
                <a:gridCol w="1645920"/>
                <a:gridCol w="1371600"/>
                <a:gridCol w="155448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项目名称</a:t>
                      </a:r>
                    </a:p>
                  </a:txBody>
                  <a:tcPr>
                    <a:solidFill>
                      <a:srgbClr val="1A3A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预算金额(万元)</a:t>
                      </a:r>
                    </a:p>
                  </a:txBody>
                  <a:tcPr>
                    <a:solidFill>
                      <a:srgbClr val="1A3A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实际支出(万元)</a:t>
                      </a:r>
                    </a:p>
                  </a:txBody>
                  <a:tcPr>
                    <a:solidFill>
                      <a:srgbClr val="1A3A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执行率</a:t>
                      </a:r>
                    </a:p>
                  </a:txBody>
                  <a:tcPr>
                    <a:solidFill>
                      <a:srgbClr val="1A3A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状态</a:t>
                      </a:r>
                    </a:p>
                  </a:txBody>
                  <a:tcPr>
                    <a:solidFill>
                      <a:srgbClr val="1A3A6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项目A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1,000.00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856.32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85.6%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正常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项目B</a:t>
                      </a:r>
                    </a:p>
                  </a:txBody>
                  <a:tcPr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500.00</a:t>
                      </a:r>
                    </a:p>
                  </a:txBody>
                  <a:tcPr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423.15</a:t>
                      </a:r>
                    </a:p>
                  </a:txBody>
                  <a:tcPr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84.6%</a:t>
                      </a:r>
                    </a:p>
                  </a:txBody>
                  <a:tcPr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正常</a:t>
                      </a:r>
                    </a:p>
                  </a:txBody>
                  <a:tcPr>
                    <a:solidFill>
                      <a:srgbClr val="EEF2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项目C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300.00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298.70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99.6%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正常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项目D</a:t>
                      </a:r>
                    </a:p>
                  </a:txBody>
                  <a:tcPr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200.00</a:t>
                      </a:r>
                    </a:p>
                  </a:txBody>
                  <a:tcPr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67.50</a:t>
                      </a:r>
                    </a:p>
                  </a:txBody>
                  <a:tcPr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33.8%</a:t>
                      </a:r>
                    </a:p>
                  </a:txBody>
                  <a:tcPr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⚠ 偏低</a:t>
                      </a:r>
                    </a:p>
                  </a:txBody>
                  <a:tcPr>
                    <a:solidFill>
                      <a:srgbClr val="EEF2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合计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2,000.00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1,645.67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82.3%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—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3291840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i="1">
                <a:solidFill>
                  <a:srgbClr val="888888"/>
                </a:solidFill>
              </a:rPr>
              <a:t>数据来源：[数据来源说明]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749039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3A6E"/>
                </a:solidFill>
              </a:rPr>
              <a:t>关键发现：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206240"/>
            <a:ext cx="7680960" cy="1417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1A3A6E"/>
                </a:solidFill>
              </a:rPr>
              <a:t>▸  </a:t>
            </a:r>
            <a:r>
              <a:rPr sz="1200">
                <a:solidFill>
                  <a:srgbClr val="333333"/>
                </a:solidFill>
              </a:rPr>
              <a:t>项目D预算执行率仅33.8%，存在重大执行偏差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1A3A6E"/>
                </a:solidFill>
              </a:rPr>
              <a:t>▸  </a:t>
            </a:r>
            <a:r>
              <a:rPr sz="1200">
                <a:solidFill>
                  <a:srgbClr val="333333"/>
                </a:solidFill>
              </a:rPr>
              <a:t>项目C执行率接近100%，需关注是否存在年末突击花钱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1A3A6E"/>
                </a:solidFill>
              </a:rPr>
              <a:t>▸  </a:t>
            </a:r>
            <a:r>
              <a:rPr sz="1200">
                <a:solidFill>
                  <a:srgbClr val="333333"/>
                </a:solidFill>
              </a:rPr>
              <a:t>总体执行率82.3%，处于合理区间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>
                <a:solidFill>
                  <a:srgbClr val="888888"/>
                </a:solidFill>
              </a:rP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A3A6E"/>
                </a:solidFill>
              </a:rPr>
              <a:t>二、项目资金构成分布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8046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888888"/>
                </a:solidFill>
              </a:rPr>
              <a:t>Fund Distribution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88888"/>
                </a:solidFill>
              </a:rPr>
              <a:t>[此处插入饼图/环形图]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</a:rPr>
              <a:t>图表配色建议：深蓝系渐变调色盘 #1a3a6e / #2c5f9e / #4a90c4 / #7ab4d6 / #a8d0e6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9456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</a:rPr>
              <a:t>饼图扇区不超过5个，标注占比百分比，核心扇区略突出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>
                <a:solidFill>
                  <a:srgbClr val="888888"/>
                </a:solidFill>
              </a:rP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A3A6E"/>
                </a:solidFill>
              </a:rPr>
              <a:t>二、月度预算执行进度趋势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8046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888888"/>
                </a:solidFill>
              </a:rPr>
              <a:t>Monthly Execution Trend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88888"/>
                </a:solidFill>
              </a:rPr>
              <a:t>[此处插入柱状图+折线图组合]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</a:rPr>
              <a:t>图表配色建议：柱状图 月度支出额 浅蓝色 #3498DB，折线图 累计执行率 深蓝色 #1a3a6e加粗，计划线 红色虚线 #CC3333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>
                <a:solidFill>
                  <a:srgbClr val="888888"/>
                </a:solidFill>
              </a:rP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A3A6E"/>
                </a:solidFill>
              </a:rPr>
              <a:t>三、重点问题分析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8046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888888"/>
                </a:solidFill>
              </a:rPr>
              <a:t>Key Issues Analysis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1645920" cy="411480"/>
          </a:xfrm>
          <a:prstGeom prst="roundRect">
            <a:avLst/>
          </a:prstGeom>
          <a:solidFill>
            <a:srgbClr val="1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FFFFFF"/>
                </a:solidFill>
              </a:rPr>
              <a:t>预算执行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331720" y="1371600"/>
            <a:ext cx="548640" cy="411480"/>
          </a:xfrm>
          <a:prstGeom prst="roundRect">
            <a:avLst/>
          </a:prstGeom>
          <a:solidFill>
            <a:srgbClr val="CC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高风险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141732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项目D执行率仅33.8%，前期论证不充分，立项条件不成熟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31720"/>
            <a:ext cx="1645920" cy="411480"/>
          </a:xfrm>
          <a:prstGeom prst="roundRect">
            <a:avLst/>
          </a:prstGeom>
          <a:solidFill>
            <a:srgbClr val="1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FFFFFF"/>
                </a:solidFill>
              </a:rPr>
              <a:t>资金管理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31720" y="2331720"/>
            <a:ext cx="548640" cy="411480"/>
          </a:xfrm>
          <a:prstGeom prst="round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中风险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2377439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专项资金存在短期挪用，内控机制存在漏洞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291840"/>
            <a:ext cx="1645920" cy="411480"/>
          </a:xfrm>
          <a:prstGeom prst="roundRect">
            <a:avLst/>
          </a:prstGeom>
          <a:solidFill>
            <a:srgbClr val="1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FFFFFF"/>
                </a:solidFill>
              </a:rPr>
              <a:t>项目管理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331720" y="3291840"/>
            <a:ext cx="548640" cy="411480"/>
          </a:xfrm>
          <a:prstGeom prst="roundRect">
            <a:avLst/>
          </a:prstGeom>
          <a:solidFill>
            <a:srgbClr val="CC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高风险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333756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项目A未经批准擅自调整建设内容，涉及85万元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251960"/>
            <a:ext cx="1645920" cy="411480"/>
          </a:xfrm>
          <a:prstGeom prst="roundRect">
            <a:avLst/>
          </a:prstGeom>
          <a:solidFill>
            <a:srgbClr val="1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FFFFFF"/>
                </a:solidFill>
              </a:rPr>
              <a:t>合同规范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331720" y="4251960"/>
            <a:ext cx="548640" cy="411480"/>
          </a:xfrm>
          <a:prstGeom prst="round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中风险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429768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部分合同签订不规范，要素缺失、条款模糊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212080"/>
            <a:ext cx="1645920" cy="411480"/>
          </a:xfrm>
          <a:prstGeom prst="roundRect">
            <a:avLst/>
          </a:prstGeom>
          <a:solidFill>
            <a:srgbClr val="1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FFFFFF"/>
                </a:solidFill>
              </a:rPr>
              <a:t>档案管理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331720" y="5212080"/>
            <a:ext cx="548640" cy="411480"/>
          </a:xfrm>
          <a:prstGeom prst="roundRect">
            <a:avLst/>
          </a:prstGeom>
          <a:solidFill>
            <a:srgbClr val="33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低风险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20" y="525780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过程性文件缺失，档案管理制度不健全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>
                <a:solidFill>
                  <a:srgbClr val="888888"/>
                </a:solidFill>
              </a:rP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A3A6E"/>
                </a:solidFill>
              </a:rPr>
              <a:t>四、问题发现汇总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8046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888888"/>
                </a:solidFill>
              </a:rPr>
              <a:t>Findings Summary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280160"/>
          <a:ext cx="80467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2011680"/>
                <a:gridCol w="201168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风险等级</a:t>
                      </a:r>
                    </a:p>
                  </a:txBody>
                  <a:tcPr>
                    <a:solidFill>
                      <a:srgbClr val="1A3A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问题数量</a:t>
                      </a:r>
                    </a:p>
                  </a:txBody>
                  <a:tcPr>
                    <a:solidFill>
                      <a:srgbClr val="1A3A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占比</a:t>
                      </a:r>
                    </a:p>
                  </a:txBody>
                  <a:tcPr>
                    <a:solidFill>
                      <a:srgbClr val="1A3A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处理建议</a:t>
                      </a:r>
                    </a:p>
                  </a:txBody>
                  <a:tcPr>
                    <a:solidFill>
                      <a:srgbClr val="1A3A6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高风险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15.8%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需立即整改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中风险</a:t>
                      </a:r>
                    </a:p>
                  </a:txBody>
                  <a:tcPr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42.1%</a:t>
                      </a:r>
                    </a:p>
                  </a:txBody>
                  <a:tcPr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限期整改</a:t>
                      </a:r>
                    </a:p>
                  </a:txBody>
                  <a:tcPr>
                    <a:solidFill>
                      <a:srgbClr val="EEF2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低风险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42.1%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持续关注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合计</a:t>
                      </a:r>
                    </a:p>
                  </a:txBody>
                  <a:tcPr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19</a:t>
                      </a:r>
                    </a:p>
                  </a:txBody>
                  <a:tcPr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100%</a:t>
                      </a:r>
                    </a:p>
                  </a:txBody>
                  <a:tcPr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EEF2F9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86384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>
                <a:solidFill>
                  <a:srgbClr val="888888"/>
                </a:solidFill>
              </a:rP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A3A6E"/>
                </a:solidFill>
              </a:rPr>
              <a:t>四、重点问题清单（部分）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8046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888888"/>
                </a:solidFill>
              </a:rPr>
              <a:t>Key Finding Details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280160"/>
          <a:ext cx="804672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3657600"/>
                <a:gridCol w="1828800"/>
                <a:gridCol w="118872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编号</a:t>
                      </a:r>
                    </a:p>
                  </a:txBody>
                  <a:tcPr>
                    <a:solidFill>
                      <a:srgbClr val="1A3A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问题描述</a:t>
                      </a:r>
                    </a:p>
                  </a:txBody>
                  <a:tcPr>
                    <a:solidFill>
                      <a:srgbClr val="1A3A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涉及金额(万元)</a:t>
                      </a:r>
                    </a:p>
                  </a:txBody>
                  <a:tcPr>
                    <a:solidFill>
                      <a:srgbClr val="1A3A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风险等级</a:t>
                      </a:r>
                    </a:p>
                  </a:txBody>
                  <a:tcPr>
                    <a:solidFill>
                      <a:srgbClr val="1A3A6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F-001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项目D预算执行率仅33.8%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132.50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高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F-002</a:t>
                      </a:r>
                    </a:p>
                  </a:txBody>
                  <a:tcPr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部分支出未取得合规发票</a:t>
                      </a:r>
                    </a:p>
                  </a:txBody>
                  <a:tcPr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45.30</a:t>
                      </a:r>
                    </a:p>
                  </a:txBody>
                  <a:tcPr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高</a:t>
                      </a:r>
                    </a:p>
                  </a:txBody>
                  <a:tcPr>
                    <a:solidFill>
                      <a:srgbClr val="EEF2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F-003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项目A擅自调整建设内容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85.00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高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F-004</a:t>
                      </a:r>
                    </a:p>
                  </a:txBody>
                  <a:tcPr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合同签订不规范</a:t>
                      </a:r>
                    </a:p>
                  </a:txBody>
                  <a:tcPr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中</a:t>
                      </a:r>
                    </a:p>
                  </a:txBody>
                  <a:tcPr>
                    <a:solidFill>
                      <a:srgbClr val="EEF2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F-005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专项资金短期挪用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120.00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中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217920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i="1">
                <a:solidFill>
                  <a:srgbClr val="888888"/>
                </a:solidFill>
              </a:rPr>
              <a:t>数据来源：以上为部分重点问题摘录，完整清单详见正式报告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>
                <a:solidFill>
                  <a:srgbClr val="888888"/>
                </a:solidFill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A3A6E"/>
                </a:solidFill>
              </a:rPr>
              <a:t>五、改进建议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8046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888888"/>
                </a:solidFill>
              </a:rPr>
              <a:t>Recommendations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457200" cy="457200"/>
          </a:xfrm>
          <a:prstGeom prst="roundRect">
            <a:avLst/>
          </a:prstGeom>
          <a:solidFill>
            <a:srgbClr val="1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41732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3A6E"/>
                </a:solidFill>
              </a:rPr>
              <a:t>加强前期论证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78308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增加可行性研究深度，引入专家评审，从源头杜绝"先天不足"项目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560320"/>
            <a:ext cx="457200" cy="457200"/>
          </a:xfrm>
          <a:prstGeom prst="roundRect">
            <a:avLst/>
          </a:prstGeom>
          <a:solidFill>
            <a:srgbClr val="1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606039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3A6E"/>
                </a:solidFill>
              </a:rPr>
              <a:t>完善资金管理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97180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建立专项资金全流程监控，专户管理、专款专用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749039"/>
            <a:ext cx="457200" cy="457200"/>
          </a:xfrm>
          <a:prstGeom prst="roundRect">
            <a:avLst/>
          </a:prstGeom>
          <a:solidFill>
            <a:srgbClr val="1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794759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3A6E"/>
                </a:solidFill>
              </a:rPr>
              <a:t>规范合同变更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416052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统一合同模板，建立变更审批层级管理制度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937760"/>
            <a:ext cx="457200" cy="457200"/>
          </a:xfrm>
          <a:prstGeom prst="roundRect">
            <a:avLst/>
          </a:prstGeom>
          <a:solidFill>
            <a:srgbClr val="1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498348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3A6E"/>
                </a:solidFill>
              </a:rPr>
              <a:t>强化绩效闭环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534924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目标设定→过程监控→结果评价→反馈应用全链条管理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>
                <a:solidFill>
                  <a:srgbClr val="888888"/>
                </a:solidFill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2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感谢聆听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888888"/>
                </a:solidFill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888888"/>
                </a:solidFill>
              </a:rPr>
              <a:t>四川融策会计师事务所 / 四川融策工程咨询公司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88888"/>
                </a:solidFill>
              </a:rPr>
              <a:t>地址：[公司地址]  |  电话：[联系电话]  |  邮箱：[联系邮箱]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>
                <a:solidFill>
                  <a:srgbClr val="888888"/>
                </a:solidFill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